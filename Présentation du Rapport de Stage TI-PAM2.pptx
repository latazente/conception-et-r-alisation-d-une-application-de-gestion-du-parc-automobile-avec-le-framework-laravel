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7" r:id="rId5"/>
    <p:sldId id="268" r:id="rId6"/>
    <p:sldId id="267" r:id="rId7"/>
    <p:sldId id="269" r:id="rId8"/>
    <p:sldId id="289" r:id="rId9"/>
    <p:sldId id="272" r:id="rId10"/>
    <p:sldId id="292" r:id="rId11"/>
    <p:sldId id="293" r:id="rId12"/>
    <p:sldId id="298" r:id="rId13"/>
    <p:sldId id="299" r:id="rId14"/>
    <p:sldId id="300" r:id="rId15"/>
    <p:sldId id="270" r:id="rId16"/>
    <p:sldId id="278" r:id="rId17"/>
    <p:sldId id="305" r:id="rId18"/>
    <p:sldId id="306" r:id="rId19"/>
    <p:sldId id="283" r:id="rId20"/>
    <p:sldId id="284" r:id="rId21"/>
    <p:sldId id="286" r:id="rId22"/>
    <p:sldId id="287" r:id="rId23"/>
    <p:sldId id="303" r:id="rId24"/>
    <p:sldId id="288" r:id="rId25"/>
    <p:sldId id="302" r:id="rId26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F0"/>
    <a:srgbClr val="168B34"/>
    <a:srgbClr val="6A6A6A"/>
    <a:srgbClr val="EA2B3E"/>
    <a:srgbClr val="000F55"/>
    <a:srgbClr val="008296"/>
    <a:srgbClr val="4E4180"/>
    <a:srgbClr val="902676"/>
    <a:srgbClr val="E25B20"/>
    <a:srgbClr val="F8C42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83513" autoAdjust="0"/>
  </p:normalViewPr>
  <p:slideViewPr>
    <p:cSldViewPr>
      <p:cViewPr varScale="1">
        <p:scale>
          <a:sx n="123" d="100"/>
          <a:sy n="123" d="100"/>
        </p:scale>
        <p:origin x="-102" y="-31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8AF6929-4F16-43A6-8368-BF93843271D3}" type="datetime1">
              <a:rPr lang="fr-FR" smtClean="0"/>
              <a:pPr algn="r" rtl="0"/>
              <a:t>25/06/2021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fr-FR" smtClean="0"/>
              <a:pPr algn="r"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4D9CF8A1-AC6C-4B34-A6AF-5306B09514F1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16286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42757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3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404533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6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secteur bancaire possède un poids considérable sur l’économie des pays dans le monde entier. Aujourd’hui, les soucis majeurs rencontrés dans les institutions financières sont : l’utilisation des technologies dépassées, la</a:t>
            </a:r>
            <a:r>
              <a:rPr lang="fr-FR" sz="16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lenteur des transactions &amp; les couts assez élevés. </a:t>
            </a:r>
            <a:r>
              <a:rPr lang="fr-FR" sz="16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pallier à ces alternative, un service d’un nouveau genre voit le jour en Afrique : le « Mobile money ». Le Mobile money est un service de portefeuille mobile proposé par des startups et des opérateurs de télécommunication qui permet à ses utilisateurs d’épargner, envoyer et recevoir de l’argent sur leurs téléphones portable.</a:t>
            </a:r>
            <a:r>
              <a:rPr lang="fr-FR" dirty="0" smtClean="0"/>
              <a:t> Ses service existants</a:t>
            </a:r>
            <a:r>
              <a:rPr lang="fr-FR" baseline="0" dirty="0" smtClean="0"/>
              <a:t> </a:t>
            </a:r>
            <a:r>
              <a:rPr lang="fr-FR" baseline="0" dirty="0" err="1" smtClean="0"/>
              <a:t>possédent</a:t>
            </a:r>
            <a:r>
              <a:rPr lang="fr-FR" baseline="0" dirty="0" smtClean="0"/>
              <a:t> également </a:t>
            </a:r>
            <a:r>
              <a:rPr lang="fr-FR" baseline="0" dirty="0" err="1" smtClean="0"/>
              <a:t>cartaines</a:t>
            </a:r>
            <a:r>
              <a:rPr lang="fr-FR" baseline="0" dirty="0" smtClean="0"/>
              <a:t> limites que nous avons essayer de corriger en Concevant </a:t>
            </a:r>
            <a:r>
              <a:rPr lang="fr-FR" b="1" baseline="0" dirty="0" smtClean="0"/>
              <a:t>GLOMO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,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4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566996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6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973982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7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032873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’image de diapositive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 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UML est  un outil intéressant car est un langage graphique qui permet de représenté les différent aspect du système d’informations.</a:t>
            </a: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UML 2.0 comporte ainsi treize types de diagrammes mais neuf sont couramment utilisé  représentant autant de vues distinctes</a:t>
            </a:r>
            <a:r>
              <a:rPr lang="fr-FR" baseline="0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 dans le cadre de ce projet, nous avons utilisé 3 diagrammes repartis</a:t>
            </a: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 en deux grands groupes.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1-cas</a:t>
            </a:r>
            <a:r>
              <a:rPr lang="fr-FR" baseline="0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 d’utilisation :qui  décrivent les comportement et fonction d’un system du point de vue l’utilisateur</a:t>
            </a:r>
            <a:endParaRPr lang="fr-FR" dirty="0" smtClean="0">
              <a:solidFill>
                <a:schemeClr val="bg1"/>
              </a:solidFill>
              <a:latin typeface="Constantia" panose="02030602050306030303" pitchFamily="18" charset="0"/>
              <a:cs typeface="Times New Roman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2-classe</a:t>
            </a:r>
            <a:r>
              <a:rPr lang="fr-FR" baseline="0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: décrivent la structure statique, type et relations des ensembles d’objet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 smtClean="0">
                <a:solidFill>
                  <a:schemeClr val="bg1"/>
                </a:solidFill>
                <a:latin typeface="Constantia" panose="02030602050306030303" pitchFamily="18" charset="0"/>
                <a:cs typeface="Times New Roman" pitchFamily="18" charset="0"/>
              </a:rPr>
              <a:t>3-sequences: qui décrivent de manière temporelle les interactions entre objets et acteur</a:t>
            </a:r>
            <a:endParaRPr lang="fr-FR" dirty="0" smtClean="0">
              <a:solidFill>
                <a:schemeClr val="bg1"/>
              </a:solidFill>
              <a:latin typeface="Constantia" panose="02030602050306030303" pitchFamily="18" charset="0"/>
              <a:cs typeface="Times New Roman" pitchFamily="18" charset="0"/>
            </a:endParaRPr>
          </a:p>
          <a:p>
            <a:endParaRPr lang="fr-FR" dirty="0" smtClean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algn="r" rtl="0"/>
            <a:fld id="{3EBA5BD7-F043-4D1B-AA17-CD412FC534DE}" type="slidenum">
              <a:rPr lang="fr-FR" smtClean="0"/>
              <a:pPr algn="r" rtl="0"/>
              <a:t>12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4117229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13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394485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14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394485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15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394485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16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021100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17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100922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1- Pou</a:t>
            </a:r>
            <a:r>
              <a:rPr lang="fr-FR" baseline="0" dirty="0" smtClean="0"/>
              <a:t> être utiliser partout ou l’on se trouve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18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155347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19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733171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21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56669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cteur droit 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 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gnes inférieu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e libre 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0" name="Forme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smtClean="0"/>
              <a:t>Modifier le style des sous-titres du masque</a:t>
            </a:r>
            <a:endParaRPr lang="fr-FR" dirty="0"/>
          </a:p>
        </p:txBody>
      </p:sp>
      <p:sp>
        <p:nvSpPr>
          <p:cNvPr id="22" name="Espace réservé de la dat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2756690-26CA-4339-8E43-CEAFC671C033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58796DC-3C3F-4FBE-9A70-7F065917F107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cteur droit 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 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D93646-72B8-4404-A43E-60DA00041FBF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E99CC8-C982-496E-828B-A0FD80F887D7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2B829EC-7A7A-4DEB-98F0-1F2711C3A5BF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41B2CA-A909-4FC5-B32D-CB05260C48D9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35A63BB-6524-4F9F-8480-3D02EAC0F9EA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676CCF8-D15C-4149-8BC8-AFAF0C15933C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fr-FR" smtClean="0"/>
              <a:t>Cliquez sur l'icône pour ajouter une image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350E839-D859-4425-B162-4A21E40CAB53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F94C6BA-0654-4E73-ACE3-A10E771D5DAE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fr-FR" smtClean="0"/>
              <a:t>Modifier les styles du texte du masque</a:t>
            </a:r>
          </a:p>
          <a:p>
            <a:pPr lvl="1" rtl="0"/>
            <a:r>
              <a:rPr lang="fr-FR" smtClean="0"/>
              <a:t>Deuxième niveau</a:t>
            </a:r>
          </a:p>
          <a:p>
            <a:pPr lvl="2" rtl="0"/>
            <a:r>
              <a:rPr lang="fr-FR" smtClean="0"/>
              <a:t>Troisième niveau</a:t>
            </a:r>
          </a:p>
          <a:p>
            <a:pPr lvl="3" rtl="0"/>
            <a:r>
              <a:rPr lang="fr-FR" smtClean="0"/>
              <a:t>Quatrième niveau</a:t>
            </a:r>
          </a:p>
          <a:p>
            <a:pPr lvl="4" rtl="0"/>
            <a:r>
              <a:rPr lang="fr-FR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4B93119-1BC6-4C41-822C-EAF0DB57BFCB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gnes de gauch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e libre 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4" name="Forme libre 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dirty="0" smtClean="0"/>
              <a:t>Modifiez les styles du texte du masque</a:t>
            </a:r>
          </a:p>
          <a:p>
            <a:pPr lvl="1" rtl="0"/>
            <a:r>
              <a:rPr lang="fr-FR" dirty="0" smtClean="0"/>
              <a:t>Deuxième niveau</a:t>
            </a:r>
          </a:p>
          <a:p>
            <a:pPr lvl="2" rtl="0"/>
            <a:r>
              <a:rPr lang="fr-FR" dirty="0" smtClean="0"/>
              <a:t>Troisième niveau</a:t>
            </a:r>
          </a:p>
          <a:p>
            <a:pPr lvl="3" rtl="0"/>
            <a:r>
              <a:rPr lang="fr-FR" dirty="0" smtClean="0"/>
              <a:t>Quatrième niveau</a:t>
            </a:r>
          </a:p>
          <a:p>
            <a:pPr lvl="4" rtl="0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40311-8F0F-498C-AA03-1A8FBFA48E05}" type="datetime1">
              <a:rPr lang="fr-FR" smtClean="0"/>
              <a:pPr/>
              <a:t>25/06/2021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fr-FR" smtClean="0"/>
              <a:pPr algn="r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png"/><Relationship Id="rId18" Type="http://schemas.openxmlformats.org/officeDocument/2006/relationships/image" Target="../media/image16.svg"/><Relationship Id="rId3" Type="http://schemas.openxmlformats.org/officeDocument/2006/relationships/image" Target="../media/image5.png"/><Relationship Id="rId21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0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23" Type="http://schemas.openxmlformats.org/officeDocument/2006/relationships/image" Target="../media/image14.png"/><Relationship Id="rId10" Type="http://schemas.openxmlformats.org/officeDocument/2006/relationships/image" Target="../media/image8.svg"/><Relationship Id="rId19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8.png"/><Relationship Id="rId22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jpeg"/><Relationship Id="rId4" Type="http://schemas.openxmlformats.org/officeDocument/2006/relationships/image" Target="../media/image25.png"/><Relationship Id="rId9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gistiqueconseil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ompta/" TargetMode="External"/><Relationship Id="rId4" Type="http://schemas.openxmlformats.org/officeDocument/2006/relationships/hyperlink" Target="http://www.memo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3792070" y="330216"/>
            <a:ext cx="5015752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fr-FR" sz="48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accent1"/>
                  </a:outerShdw>
                </a:effectLst>
                <a:latin typeface="Harrington" panose="04040505050A02020702" pitchFamily="82" charset="0"/>
              </a:rPr>
              <a:t>Bienvenue à tous</a:t>
            </a:r>
            <a:endParaRPr lang="fr-FR" sz="4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dist="38100" dir="2640000" algn="bl" rotWithShape="0">
                  <a:schemeClr val="accent1"/>
                </a:outerShdw>
              </a:effectLst>
              <a:latin typeface="Harrington" panose="04040505050A02020702" pitchFamily="82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294212" y="2805799"/>
            <a:ext cx="31660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sto MT" pitchFamily="18" charset="0"/>
              </a:rPr>
              <a:t>En</a:t>
            </a:r>
            <a:r>
              <a:rPr lang="fr-FR" sz="2000" b="1" i="1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fr-FR" sz="2000" b="1" i="1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sto MT" pitchFamily="18" charset="0"/>
              </a:rPr>
              <a:t>vue</a:t>
            </a:r>
            <a:r>
              <a:rPr lang="fr-FR" sz="2000" b="1" i="1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fr-FR" sz="2000" b="1" i="1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sto MT" pitchFamily="18" charset="0"/>
              </a:rPr>
              <a:t>des connaissance reçus en classe de Prépa 3IL2B</a:t>
            </a:r>
            <a:endParaRPr lang="fr-FR" sz="2000" b="1" i="1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sto MT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572178" y="3765009"/>
            <a:ext cx="9455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DIPLÔME D’INGERNIEUR EN </a:t>
            </a:r>
          </a:p>
          <a:p>
            <a:pPr algn="ctr"/>
            <a:r>
              <a:rPr lang="fr-FR" sz="40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INFORMATIQUE</a:t>
            </a:r>
            <a:endParaRPr lang="fr-FR" sz="4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039658" y="4992071"/>
            <a:ext cx="2574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400" b="1" dirty="0" smtClean="0">
              <a:solidFill>
                <a:srgbClr val="00B0F0"/>
              </a:solidFill>
              <a:latin typeface="Script MT Bold" panose="03040602040607080904" pitchFamily="66" charset="0"/>
            </a:endParaRPr>
          </a:p>
          <a:p>
            <a:pPr algn="ctr"/>
            <a:r>
              <a:rPr lang="fr-FR" sz="2400" b="1" dirty="0" smtClean="0">
                <a:solidFill>
                  <a:srgbClr val="00B0F0"/>
                </a:solidFill>
                <a:latin typeface="Script MT Bold" panose="03040602040607080904" pitchFamily="66" charset="0"/>
              </a:rPr>
              <a:t>2020-2021</a:t>
            </a:r>
            <a:endParaRPr lang="fr-FR" sz="2400" b="1" dirty="0">
              <a:solidFill>
                <a:srgbClr val="00B0F0"/>
              </a:solidFill>
              <a:latin typeface="Script MT Bold" panose="03040602040607080904" pitchFamily="66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407007">
            <a:off x="-180528" y="4786514"/>
            <a:ext cx="2818556" cy="2386246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884761" y="1459537"/>
            <a:ext cx="8216153" cy="1048871"/>
          </a:xfrm>
          <a:prstGeom prst="rect">
            <a:avLst/>
          </a:prstGeom>
          <a:noFill/>
        </p:spPr>
        <p:txBody>
          <a:bodyPr wrap="square" rtlCol="0">
            <a:prstTxWarp prst="textDeflate">
              <a:avLst/>
            </a:prstTxWarp>
            <a:spAutoFit/>
          </a:bodyPr>
          <a:lstStyle/>
          <a:p>
            <a:r>
              <a:rPr lang="fr-FR" b="1" dirty="0">
                <a:ln>
                  <a:solidFill>
                    <a:srgbClr val="0070C0"/>
                  </a:solidFill>
                </a:ln>
                <a:solidFill>
                  <a:srgbClr val="000C36"/>
                </a:solidFill>
                <a:latin typeface="Calisto MT" pitchFamily="18" charset="0"/>
              </a:rPr>
              <a:t>Soutenance de </a:t>
            </a:r>
            <a:r>
              <a:rPr lang="fr-FR" b="1" dirty="0" smtClean="0">
                <a:ln>
                  <a:solidFill>
                    <a:srgbClr val="0070C0"/>
                  </a:solidFill>
                </a:ln>
                <a:solidFill>
                  <a:srgbClr val="000C36"/>
                </a:solidFill>
                <a:latin typeface="Calisto MT" pitchFamily="18" charset="0"/>
              </a:rPr>
              <a:t>Rapport de stage</a:t>
            </a:r>
            <a:endParaRPr lang="fr-FR" b="1" dirty="0">
              <a:ln>
                <a:solidFill>
                  <a:srgbClr val="0070C0"/>
                </a:solidFill>
              </a:ln>
              <a:solidFill>
                <a:srgbClr val="000C36"/>
              </a:solidFill>
              <a:latin typeface="Calisto MT" pitchFamily="18" charset="0"/>
            </a:endParaRP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8"/>
          <p:cNvGrpSpPr/>
          <p:nvPr/>
        </p:nvGrpSpPr>
        <p:grpSpPr>
          <a:xfrm rot="5400000">
            <a:off x="11156212" y="5842999"/>
            <a:ext cx="633107" cy="1438468"/>
            <a:chOff x="838200" y="2208213"/>
            <a:chExt cx="1724025" cy="2625725"/>
          </a:xfrm>
          <a:solidFill>
            <a:schemeClr val="tx2">
              <a:lumMod val="10000"/>
            </a:schemeClr>
          </a:solidFill>
        </p:grpSpPr>
        <p:sp>
          <p:nvSpPr>
            <p:cNvPr id="7" name="Freeform 89"/>
            <p:cNvSpPr>
              <a:spLocks/>
            </p:cNvSpPr>
            <p:nvPr/>
          </p:nvSpPr>
          <p:spPr bwMode="auto">
            <a:xfrm>
              <a:off x="839787" y="2217738"/>
              <a:ext cx="1558925" cy="2616200"/>
            </a:xfrm>
            <a:custGeom>
              <a:avLst/>
              <a:gdLst>
                <a:gd name="T0" fmla="*/ 3929 w 3929"/>
                <a:gd name="T1" fmla="*/ 0 h 6590"/>
                <a:gd name="T2" fmla="*/ 3907 w 3929"/>
                <a:gd name="T3" fmla="*/ 0 h 6590"/>
                <a:gd name="T4" fmla="*/ 3864 w 3929"/>
                <a:gd name="T5" fmla="*/ 6 h 6590"/>
                <a:gd name="T6" fmla="*/ 3802 w 3929"/>
                <a:gd name="T7" fmla="*/ 27 h 6590"/>
                <a:gd name="T8" fmla="*/ 3725 w 3929"/>
                <a:gd name="T9" fmla="*/ 73 h 6590"/>
                <a:gd name="T10" fmla="*/ 3658 w 3929"/>
                <a:gd name="T11" fmla="*/ 141 h 6590"/>
                <a:gd name="T12" fmla="*/ 3600 w 3929"/>
                <a:gd name="T13" fmla="*/ 226 h 6590"/>
                <a:gd name="T14" fmla="*/ 3554 w 3929"/>
                <a:gd name="T15" fmla="*/ 326 h 6590"/>
                <a:gd name="T16" fmla="*/ 3522 w 3929"/>
                <a:gd name="T17" fmla="*/ 438 h 6590"/>
                <a:gd name="T18" fmla="*/ 3505 w 3929"/>
                <a:gd name="T19" fmla="*/ 560 h 6590"/>
                <a:gd name="T20" fmla="*/ 3504 w 3929"/>
                <a:gd name="T21" fmla="*/ 624 h 6590"/>
                <a:gd name="T22" fmla="*/ 3504 w 3929"/>
                <a:gd name="T23" fmla="*/ 624 h 6590"/>
                <a:gd name="T24" fmla="*/ 3504 w 3929"/>
                <a:gd name="T25" fmla="*/ 5661 h 6590"/>
                <a:gd name="T26" fmla="*/ 1751 w 3929"/>
                <a:gd name="T27" fmla="*/ 6590 h 6590"/>
                <a:gd name="T28" fmla="*/ 0 w 3929"/>
                <a:gd name="T29" fmla="*/ 5661 h 6590"/>
                <a:gd name="T30" fmla="*/ 0 w 3929"/>
                <a:gd name="T31" fmla="*/ 615 h 6590"/>
                <a:gd name="T32" fmla="*/ 2 w 3929"/>
                <a:gd name="T33" fmla="*/ 550 h 6590"/>
                <a:gd name="T34" fmla="*/ 18 w 3929"/>
                <a:gd name="T35" fmla="*/ 430 h 6590"/>
                <a:gd name="T36" fmla="*/ 51 w 3929"/>
                <a:gd name="T37" fmla="*/ 318 h 6590"/>
                <a:gd name="T38" fmla="*/ 96 w 3929"/>
                <a:gd name="T39" fmla="*/ 221 h 6590"/>
                <a:gd name="T40" fmla="*/ 155 w 3929"/>
                <a:gd name="T41" fmla="*/ 138 h 6590"/>
                <a:gd name="T42" fmla="*/ 222 w 3929"/>
                <a:gd name="T43" fmla="*/ 72 h 6590"/>
                <a:gd name="T44" fmla="*/ 298 w 3929"/>
                <a:gd name="T45" fmla="*/ 26 h 6590"/>
                <a:gd name="T46" fmla="*/ 361 w 3929"/>
                <a:gd name="T47" fmla="*/ 6 h 6590"/>
                <a:gd name="T48" fmla="*/ 403 w 3929"/>
                <a:gd name="T49" fmla="*/ 0 h 6590"/>
                <a:gd name="T50" fmla="*/ 424 w 3929"/>
                <a:gd name="T51" fmla="*/ 0 h 6590"/>
                <a:gd name="T52" fmla="*/ 425 w 3929"/>
                <a:gd name="T53" fmla="*/ 0 h 6590"/>
                <a:gd name="T54" fmla="*/ 425 w 3929"/>
                <a:gd name="T55" fmla="*/ 0 h 6590"/>
                <a:gd name="T56" fmla="*/ 3929 w 3929"/>
                <a:gd name="T57" fmla="*/ 0 h 6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929" h="6590">
                  <a:moveTo>
                    <a:pt x="3929" y="0"/>
                  </a:moveTo>
                  <a:lnTo>
                    <a:pt x="3907" y="0"/>
                  </a:lnTo>
                  <a:lnTo>
                    <a:pt x="3864" y="6"/>
                  </a:lnTo>
                  <a:lnTo>
                    <a:pt x="3802" y="27"/>
                  </a:lnTo>
                  <a:lnTo>
                    <a:pt x="3725" y="73"/>
                  </a:lnTo>
                  <a:lnTo>
                    <a:pt x="3658" y="141"/>
                  </a:lnTo>
                  <a:lnTo>
                    <a:pt x="3600" y="226"/>
                  </a:lnTo>
                  <a:lnTo>
                    <a:pt x="3554" y="326"/>
                  </a:lnTo>
                  <a:lnTo>
                    <a:pt x="3522" y="438"/>
                  </a:lnTo>
                  <a:lnTo>
                    <a:pt x="3505" y="560"/>
                  </a:lnTo>
                  <a:lnTo>
                    <a:pt x="3504" y="624"/>
                  </a:lnTo>
                  <a:lnTo>
                    <a:pt x="3504" y="624"/>
                  </a:lnTo>
                  <a:lnTo>
                    <a:pt x="3504" y="5661"/>
                  </a:lnTo>
                  <a:lnTo>
                    <a:pt x="1751" y="6590"/>
                  </a:lnTo>
                  <a:lnTo>
                    <a:pt x="0" y="5661"/>
                  </a:lnTo>
                  <a:lnTo>
                    <a:pt x="0" y="615"/>
                  </a:lnTo>
                  <a:lnTo>
                    <a:pt x="2" y="550"/>
                  </a:lnTo>
                  <a:lnTo>
                    <a:pt x="18" y="430"/>
                  </a:lnTo>
                  <a:lnTo>
                    <a:pt x="51" y="318"/>
                  </a:lnTo>
                  <a:lnTo>
                    <a:pt x="96" y="221"/>
                  </a:lnTo>
                  <a:lnTo>
                    <a:pt x="155" y="138"/>
                  </a:lnTo>
                  <a:lnTo>
                    <a:pt x="222" y="72"/>
                  </a:lnTo>
                  <a:lnTo>
                    <a:pt x="298" y="26"/>
                  </a:lnTo>
                  <a:lnTo>
                    <a:pt x="361" y="6"/>
                  </a:lnTo>
                  <a:lnTo>
                    <a:pt x="403" y="0"/>
                  </a:lnTo>
                  <a:lnTo>
                    <a:pt x="424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39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wordArt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98"/>
            <p:cNvSpPr>
              <a:spLocks/>
            </p:cNvSpPr>
            <p:nvPr/>
          </p:nvSpPr>
          <p:spPr bwMode="auto">
            <a:xfrm>
              <a:off x="2225675" y="2208213"/>
              <a:ext cx="336550" cy="249238"/>
            </a:xfrm>
            <a:custGeom>
              <a:avLst/>
              <a:gdLst>
                <a:gd name="T0" fmla="*/ 0 w 850"/>
                <a:gd name="T1" fmla="*/ 624 h 624"/>
                <a:gd name="T2" fmla="*/ 850 w 850"/>
                <a:gd name="T3" fmla="*/ 624 h 624"/>
                <a:gd name="T4" fmla="*/ 849 w 850"/>
                <a:gd name="T5" fmla="*/ 561 h 624"/>
                <a:gd name="T6" fmla="*/ 832 w 850"/>
                <a:gd name="T7" fmla="*/ 439 h 624"/>
                <a:gd name="T8" fmla="*/ 800 w 850"/>
                <a:gd name="T9" fmla="*/ 326 h 624"/>
                <a:gd name="T10" fmla="*/ 754 w 850"/>
                <a:gd name="T11" fmla="*/ 226 h 624"/>
                <a:gd name="T12" fmla="*/ 696 w 850"/>
                <a:gd name="T13" fmla="*/ 142 h 624"/>
                <a:gd name="T14" fmla="*/ 629 w 850"/>
                <a:gd name="T15" fmla="*/ 75 h 624"/>
                <a:gd name="T16" fmla="*/ 552 w 850"/>
                <a:gd name="T17" fmla="*/ 27 h 624"/>
                <a:gd name="T18" fmla="*/ 490 w 850"/>
                <a:gd name="T19" fmla="*/ 6 h 624"/>
                <a:gd name="T20" fmla="*/ 447 w 850"/>
                <a:gd name="T21" fmla="*/ 0 h 624"/>
                <a:gd name="T22" fmla="*/ 425 w 850"/>
                <a:gd name="T23" fmla="*/ 0 h 624"/>
                <a:gd name="T24" fmla="*/ 425 w 850"/>
                <a:gd name="T25" fmla="*/ 0 h 624"/>
                <a:gd name="T26" fmla="*/ 403 w 850"/>
                <a:gd name="T27" fmla="*/ 0 h 624"/>
                <a:gd name="T28" fmla="*/ 360 w 850"/>
                <a:gd name="T29" fmla="*/ 6 h 624"/>
                <a:gd name="T30" fmla="*/ 300 w 850"/>
                <a:gd name="T31" fmla="*/ 27 h 624"/>
                <a:gd name="T32" fmla="*/ 223 w 850"/>
                <a:gd name="T33" fmla="*/ 75 h 624"/>
                <a:gd name="T34" fmla="*/ 154 w 850"/>
                <a:gd name="T35" fmla="*/ 142 h 624"/>
                <a:gd name="T36" fmla="*/ 97 w 850"/>
                <a:gd name="T37" fmla="*/ 226 h 624"/>
                <a:gd name="T38" fmla="*/ 52 w 850"/>
                <a:gd name="T39" fmla="*/ 326 h 624"/>
                <a:gd name="T40" fmla="*/ 20 w 850"/>
                <a:gd name="T41" fmla="*/ 439 h 624"/>
                <a:gd name="T42" fmla="*/ 3 w 850"/>
                <a:gd name="T43" fmla="*/ 561 h 624"/>
                <a:gd name="T44" fmla="*/ 0 w 850"/>
                <a:gd name="T4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50" h="624">
                  <a:moveTo>
                    <a:pt x="0" y="624"/>
                  </a:moveTo>
                  <a:lnTo>
                    <a:pt x="850" y="624"/>
                  </a:lnTo>
                  <a:lnTo>
                    <a:pt x="849" y="561"/>
                  </a:lnTo>
                  <a:lnTo>
                    <a:pt x="832" y="439"/>
                  </a:lnTo>
                  <a:lnTo>
                    <a:pt x="800" y="326"/>
                  </a:lnTo>
                  <a:lnTo>
                    <a:pt x="754" y="226"/>
                  </a:lnTo>
                  <a:lnTo>
                    <a:pt x="696" y="142"/>
                  </a:lnTo>
                  <a:lnTo>
                    <a:pt x="629" y="75"/>
                  </a:lnTo>
                  <a:lnTo>
                    <a:pt x="552" y="27"/>
                  </a:lnTo>
                  <a:lnTo>
                    <a:pt x="490" y="6"/>
                  </a:lnTo>
                  <a:lnTo>
                    <a:pt x="447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03" y="0"/>
                  </a:lnTo>
                  <a:lnTo>
                    <a:pt x="360" y="6"/>
                  </a:lnTo>
                  <a:lnTo>
                    <a:pt x="300" y="27"/>
                  </a:lnTo>
                  <a:lnTo>
                    <a:pt x="223" y="75"/>
                  </a:lnTo>
                  <a:lnTo>
                    <a:pt x="154" y="142"/>
                  </a:lnTo>
                  <a:lnTo>
                    <a:pt x="97" y="226"/>
                  </a:lnTo>
                  <a:lnTo>
                    <a:pt x="52" y="326"/>
                  </a:lnTo>
                  <a:lnTo>
                    <a:pt x="20" y="439"/>
                  </a:lnTo>
                  <a:lnTo>
                    <a:pt x="3" y="561"/>
                  </a:lnTo>
                  <a:lnTo>
                    <a:pt x="0" y="6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wordArt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9"/>
            <p:cNvSpPr>
              <a:spLocks/>
            </p:cNvSpPr>
            <p:nvPr/>
          </p:nvSpPr>
          <p:spPr bwMode="auto">
            <a:xfrm>
              <a:off x="838200" y="2208213"/>
              <a:ext cx="1557338" cy="2616200"/>
            </a:xfrm>
            <a:custGeom>
              <a:avLst/>
              <a:gdLst>
                <a:gd name="T0" fmla="*/ 424 w 3927"/>
                <a:gd name="T1" fmla="*/ 0 h 6592"/>
                <a:gd name="T2" fmla="*/ 424 w 3927"/>
                <a:gd name="T3" fmla="*/ 0 h 6592"/>
                <a:gd name="T4" fmla="*/ 424 w 3927"/>
                <a:gd name="T5" fmla="*/ 0 h 6592"/>
                <a:gd name="T6" fmla="*/ 424 w 3927"/>
                <a:gd name="T7" fmla="*/ 0 h 6592"/>
                <a:gd name="T8" fmla="*/ 402 w 3927"/>
                <a:gd name="T9" fmla="*/ 1 h 6592"/>
                <a:gd name="T10" fmla="*/ 359 w 3927"/>
                <a:gd name="T11" fmla="*/ 6 h 6592"/>
                <a:gd name="T12" fmla="*/ 297 w 3927"/>
                <a:gd name="T13" fmla="*/ 27 h 6592"/>
                <a:gd name="T14" fmla="*/ 222 w 3927"/>
                <a:gd name="T15" fmla="*/ 72 h 6592"/>
                <a:gd name="T16" fmla="*/ 153 w 3927"/>
                <a:gd name="T17" fmla="*/ 138 h 6592"/>
                <a:gd name="T18" fmla="*/ 96 w 3927"/>
                <a:gd name="T19" fmla="*/ 221 h 6592"/>
                <a:gd name="T20" fmla="*/ 51 w 3927"/>
                <a:gd name="T21" fmla="*/ 320 h 6592"/>
                <a:gd name="T22" fmla="*/ 18 w 3927"/>
                <a:gd name="T23" fmla="*/ 430 h 6592"/>
                <a:gd name="T24" fmla="*/ 1 w 3927"/>
                <a:gd name="T25" fmla="*/ 552 h 6592"/>
                <a:gd name="T26" fmla="*/ 0 w 3927"/>
                <a:gd name="T27" fmla="*/ 615 h 6592"/>
                <a:gd name="T28" fmla="*/ 0 w 3927"/>
                <a:gd name="T29" fmla="*/ 615 h 6592"/>
                <a:gd name="T30" fmla="*/ 0 w 3927"/>
                <a:gd name="T31" fmla="*/ 5662 h 6592"/>
                <a:gd name="T32" fmla="*/ 1751 w 3927"/>
                <a:gd name="T33" fmla="*/ 6592 h 6592"/>
                <a:gd name="T34" fmla="*/ 3502 w 3927"/>
                <a:gd name="T35" fmla="*/ 5662 h 6592"/>
                <a:gd name="T36" fmla="*/ 3502 w 3927"/>
                <a:gd name="T37" fmla="*/ 624 h 6592"/>
                <a:gd name="T38" fmla="*/ 3502 w 3927"/>
                <a:gd name="T39" fmla="*/ 624 h 6592"/>
                <a:gd name="T40" fmla="*/ 3504 w 3927"/>
                <a:gd name="T41" fmla="*/ 561 h 6592"/>
                <a:gd name="T42" fmla="*/ 3522 w 3927"/>
                <a:gd name="T43" fmla="*/ 439 h 6592"/>
                <a:gd name="T44" fmla="*/ 3553 w 3927"/>
                <a:gd name="T45" fmla="*/ 326 h 6592"/>
                <a:gd name="T46" fmla="*/ 3600 w 3927"/>
                <a:gd name="T47" fmla="*/ 226 h 6592"/>
                <a:gd name="T48" fmla="*/ 3657 w 3927"/>
                <a:gd name="T49" fmla="*/ 142 h 6592"/>
                <a:gd name="T50" fmla="*/ 3725 w 3927"/>
                <a:gd name="T51" fmla="*/ 75 h 6592"/>
                <a:gd name="T52" fmla="*/ 3800 w 3927"/>
                <a:gd name="T53" fmla="*/ 27 h 6592"/>
                <a:gd name="T54" fmla="*/ 3863 w 3927"/>
                <a:gd name="T55" fmla="*/ 6 h 6592"/>
                <a:gd name="T56" fmla="*/ 3905 w 3927"/>
                <a:gd name="T57" fmla="*/ 0 h 6592"/>
                <a:gd name="T58" fmla="*/ 3927 w 3927"/>
                <a:gd name="T59" fmla="*/ 0 h 6592"/>
                <a:gd name="T60" fmla="*/ 3927 w 3927"/>
                <a:gd name="T61" fmla="*/ 0 h 6592"/>
                <a:gd name="T62" fmla="*/ 424 w 3927"/>
                <a:gd name="T63" fmla="*/ 0 h 6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27" h="6592">
                  <a:moveTo>
                    <a:pt x="424" y="0"/>
                  </a:moveTo>
                  <a:lnTo>
                    <a:pt x="424" y="0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02" y="1"/>
                  </a:lnTo>
                  <a:lnTo>
                    <a:pt x="359" y="6"/>
                  </a:lnTo>
                  <a:lnTo>
                    <a:pt x="297" y="27"/>
                  </a:lnTo>
                  <a:lnTo>
                    <a:pt x="222" y="72"/>
                  </a:lnTo>
                  <a:lnTo>
                    <a:pt x="153" y="138"/>
                  </a:lnTo>
                  <a:lnTo>
                    <a:pt x="96" y="221"/>
                  </a:lnTo>
                  <a:lnTo>
                    <a:pt x="51" y="320"/>
                  </a:lnTo>
                  <a:lnTo>
                    <a:pt x="18" y="430"/>
                  </a:lnTo>
                  <a:lnTo>
                    <a:pt x="1" y="552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0" y="5662"/>
                  </a:lnTo>
                  <a:lnTo>
                    <a:pt x="1751" y="6592"/>
                  </a:lnTo>
                  <a:lnTo>
                    <a:pt x="3502" y="5662"/>
                  </a:lnTo>
                  <a:lnTo>
                    <a:pt x="3502" y="624"/>
                  </a:lnTo>
                  <a:lnTo>
                    <a:pt x="3502" y="624"/>
                  </a:lnTo>
                  <a:lnTo>
                    <a:pt x="3504" y="561"/>
                  </a:lnTo>
                  <a:lnTo>
                    <a:pt x="3522" y="439"/>
                  </a:lnTo>
                  <a:lnTo>
                    <a:pt x="3553" y="326"/>
                  </a:lnTo>
                  <a:lnTo>
                    <a:pt x="3600" y="226"/>
                  </a:lnTo>
                  <a:lnTo>
                    <a:pt x="3657" y="142"/>
                  </a:lnTo>
                  <a:lnTo>
                    <a:pt x="3725" y="75"/>
                  </a:lnTo>
                  <a:lnTo>
                    <a:pt x="3800" y="27"/>
                  </a:lnTo>
                  <a:lnTo>
                    <a:pt x="3863" y="6"/>
                  </a:lnTo>
                  <a:lnTo>
                    <a:pt x="3905" y="0"/>
                  </a:lnTo>
                  <a:lnTo>
                    <a:pt x="3927" y="0"/>
                  </a:lnTo>
                  <a:lnTo>
                    <a:pt x="3927" y="0"/>
                  </a:lnTo>
                  <a:lnTo>
                    <a:pt x="4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vert270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0753532" y="6385492"/>
            <a:ext cx="828868" cy="228600"/>
          </a:xfrm>
        </p:spPr>
        <p:txBody>
          <a:bodyPr/>
          <a:lstStyle/>
          <a:p>
            <a:pPr rtl="0"/>
            <a:fld id="{E31375A4-56A4-47D6-9801-1991572033F7}" type="slidenum">
              <a:rPr lang="fr-FR" noProof="0" smtClean="0"/>
              <a:pPr rtl="0"/>
              <a:t>2</a:t>
            </a:fld>
            <a:endParaRPr lang="fr-FR" noProof="0" dirty="0"/>
          </a:p>
        </p:txBody>
      </p:sp>
      <p:sp>
        <p:nvSpPr>
          <p:cNvPr id="11" name="Espace réservé du numéro de diapositive 4"/>
          <p:cNvSpPr txBox="1">
            <a:spLocks/>
          </p:cNvSpPr>
          <p:nvPr/>
        </p:nvSpPr>
        <p:spPr>
          <a:xfrm>
            <a:off x="10796396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fr-FR"/>
            </a:defPPr>
            <a:lvl1pPr marL="0" algn="r" defTabSz="914400" rtl="0" eaLnBrk="1" latinLnBrk="0" hangingPunct="1">
              <a:defRPr sz="11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2360612" y="2743200"/>
            <a:ext cx="73824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accent1"/>
                </a:solidFill>
                <a:latin typeface="Gabriola" panose="04040605051002020D02" pitchFamily="82" charset="0"/>
              </a:rPr>
              <a:t>Stage effectué du 01 Juin au 23 Juin 2021</a:t>
            </a:r>
          </a:p>
          <a:p>
            <a:pPr algn="ctr"/>
            <a:r>
              <a:rPr lang="fr-FR" dirty="0" smtClean="0">
                <a:solidFill>
                  <a:schemeClr val="accent1"/>
                </a:solidFill>
                <a:latin typeface="Gabriola" panose="04040605051002020D02" pitchFamily="82" charset="0"/>
              </a:rPr>
              <a:t>À</a:t>
            </a:r>
          </a:p>
          <a:p>
            <a:pPr algn="ctr"/>
            <a:r>
              <a:rPr lang="fr-FR" sz="3200" b="1" dirty="0" smtClean="0">
                <a:solidFill>
                  <a:schemeClr val="accent1"/>
                </a:solidFill>
                <a:latin typeface="Gabriola" panose="04040605051002020D02" pitchFamily="82" charset="0"/>
              </a:rPr>
              <a:t>BM  </a:t>
            </a:r>
            <a:r>
              <a:rPr lang="fr-FR" sz="3200" b="1" dirty="0" err="1" smtClean="0">
                <a:solidFill>
                  <a:schemeClr val="accent1"/>
                </a:solidFill>
                <a:latin typeface="Gabriola" panose="04040605051002020D02" pitchFamily="82" charset="0"/>
              </a:rPr>
              <a:t>Makepe</a:t>
            </a:r>
            <a:endParaRPr lang="fr-FR" sz="3200" b="1" dirty="0">
              <a:solidFill>
                <a:schemeClr val="accent1"/>
              </a:solidFill>
              <a:latin typeface="Gabriola" panose="04040605051002020D02" pitchFamily="82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781144" y="4405436"/>
            <a:ext cx="4858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800" dirty="0" smtClean="0">
                <a:latin typeface="Georgia" panose="02040502050405020303" pitchFamily="18" charset="0"/>
              </a:rPr>
              <a:t>Présenté par:</a:t>
            </a:r>
          </a:p>
          <a:p>
            <a:pPr algn="ctr">
              <a:lnSpc>
                <a:spcPct val="150000"/>
              </a:lnSpc>
            </a:pPr>
            <a:r>
              <a:rPr lang="fr-FR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taneo BT" panose="03020802040502060804" pitchFamily="66" charset="0"/>
              </a:rPr>
              <a:t>Simo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taneo BT" panose="03020802040502060804" pitchFamily="66" charset="0"/>
              </a:rPr>
              <a:t>  </a:t>
            </a:r>
            <a:r>
              <a:rPr lang="fr-FR" sz="2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taneo BT" panose="03020802040502060804" pitchFamily="66" charset="0"/>
              </a:rPr>
              <a:t>Nlate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taneo BT" panose="03020802040502060804" pitchFamily="66" charset="0"/>
              </a:rPr>
              <a:t> Cabrel</a:t>
            </a:r>
            <a:endParaRPr lang="fr-F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taneo BT" panose="03020802040502060804" pitchFamily="66" charset="0"/>
            </a:endParaRPr>
          </a:p>
          <a:p>
            <a:pPr algn="ctr">
              <a:lnSpc>
                <a:spcPct val="150000"/>
              </a:lnSpc>
            </a:pPr>
            <a:endParaRPr lang="fr-FR" sz="1800" dirty="0"/>
          </a:p>
        </p:txBody>
      </p:sp>
      <p:sp>
        <p:nvSpPr>
          <p:cNvPr id="19" name="Zone de texte 5"/>
          <p:cNvSpPr txBox="1"/>
          <p:nvPr/>
        </p:nvSpPr>
        <p:spPr>
          <a:xfrm>
            <a:off x="280707" y="5358686"/>
            <a:ext cx="2938919" cy="102680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600" b="1" u="sng" dirty="0">
                <a:solidFill>
                  <a:schemeClr val="accent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Encadreur </a:t>
            </a:r>
            <a:r>
              <a:rPr lang="fr-FR" sz="1600" b="1" u="sng" dirty="0" smtClean="0">
                <a:solidFill>
                  <a:schemeClr val="accent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Académique</a:t>
            </a:r>
            <a:endParaRPr lang="fr-FR" sz="1200" dirty="0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>
                <a:solidFill>
                  <a:schemeClr val="accent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M. </a:t>
            </a:r>
            <a:r>
              <a:rPr lang="fr-CM" sz="1400" dirty="0" smtClean="0">
                <a:solidFill>
                  <a:schemeClr val="accent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DONGMO CYRIAQUE</a:t>
            </a:r>
            <a:endParaRPr lang="fr-CM" sz="1400" dirty="0" smtClean="0">
              <a:solidFill>
                <a:schemeClr val="accent1"/>
              </a:solidFill>
              <a:latin typeface="Arial Black" panose="020B0A04020102020204" pitchFamily="34" charset="0"/>
              <a:ea typeface="Calibri" panose="020F0502020204030204" pitchFamily="34" charset="0"/>
              <a:cs typeface="Tahoma" panose="020B0604030504040204" pitchFamily="34" charset="0"/>
            </a:endParaRPr>
          </a:p>
          <a:p>
            <a:pPr algn="ctr"/>
            <a:endParaRPr lang="fr-FR" sz="1400" dirty="0">
              <a:solidFill>
                <a:schemeClr val="accent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Enseignant à l’IUC</a:t>
            </a:r>
          </a:p>
        </p:txBody>
      </p:sp>
      <p:sp>
        <p:nvSpPr>
          <p:cNvPr id="20" name="Zone de texte 9"/>
          <p:cNvSpPr txBox="1"/>
          <p:nvPr/>
        </p:nvSpPr>
        <p:spPr>
          <a:xfrm>
            <a:off x="8398668" y="5358686"/>
            <a:ext cx="3022069" cy="125540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600" b="1" u="sng" dirty="0">
                <a:solidFill>
                  <a:schemeClr val="accent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Encadreur </a:t>
            </a:r>
            <a:r>
              <a:rPr lang="fr-FR" sz="1600" b="1" u="sng" dirty="0" smtClean="0">
                <a:solidFill>
                  <a:schemeClr val="accent1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Professionnel</a:t>
            </a:r>
            <a:endParaRPr lang="fr-FR" sz="1200" dirty="0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solidFill>
                  <a:schemeClr val="accent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M. </a:t>
            </a:r>
            <a:r>
              <a:rPr lang="fr-FR" sz="1400" dirty="0" smtClean="0">
                <a:solidFill>
                  <a:schemeClr val="accent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ahoma" panose="020B0604030504040204" pitchFamily="34" charset="0"/>
              </a:rPr>
              <a:t>TCHANDA CHRISTIAN</a:t>
            </a:r>
            <a:endParaRPr lang="fr-FR" sz="1200" dirty="0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fr-FR" sz="1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Responsable de MCS</a:t>
            </a:r>
            <a:endParaRPr lang="fr-FR" sz="1400" dirty="0">
              <a:solidFill>
                <a:schemeClr val="accent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096055" y="1662938"/>
            <a:ext cx="10879494" cy="1048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prstTxWarp prst="textPlain">
              <a:avLst/>
            </a:prstTxWarp>
            <a:spAutoFit/>
          </a:bodyPr>
          <a:lstStyle/>
          <a:p>
            <a:r>
              <a:rPr lang="fr-FR" sz="28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Thème</a:t>
            </a:r>
            <a:r>
              <a:rPr lang="fr-F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fr-FR" b="1" dirty="0" smtClean="0">
                <a:solidFill>
                  <a:srgbClr val="018D35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ligraph421 BT" panose="03060702050402020204" pitchFamily="66" charset="0"/>
              </a:rPr>
              <a:t>Mise en place d’une Application web de gestion de Parc Automobile :cas 	de MCS</a:t>
            </a:r>
            <a:endParaRPr lang="fr-FR" dirty="0">
              <a:solidFill>
                <a:srgbClr val="018D35"/>
              </a:solidFill>
              <a:latin typeface="Calligraph421 BT" panose="03060702050402020204" pitchFamily="66" charset="0"/>
            </a:endParaRPr>
          </a:p>
        </p:txBody>
      </p:sp>
      <p:pic>
        <p:nvPicPr>
          <p:cNvPr id="26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450192" y="194630"/>
            <a:ext cx="1673537" cy="54259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12" y="152400"/>
            <a:ext cx="1295399" cy="762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93" y="-162031"/>
            <a:ext cx="1905000" cy="152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0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9"/>
          <p:cNvSpPr/>
          <p:nvPr/>
        </p:nvSpPr>
        <p:spPr>
          <a:xfrm>
            <a:off x="3603580" y="111293"/>
            <a:ext cx="3674408" cy="6060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B117"/>
              </a:gs>
              <a:gs pos="100000">
                <a:srgbClr val="FFDB3F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20"/>
          <p:cNvSpPr/>
          <p:nvPr/>
        </p:nvSpPr>
        <p:spPr>
          <a:xfrm>
            <a:off x="3758625" y="949130"/>
            <a:ext cx="3710928" cy="57628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5222"/>
              </a:gs>
              <a:gs pos="100000">
                <a:srgbClr val="FBA31A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21"/>
          <p:cNvSpPr/>
          <p:nvPr/>
        </p:nvSpPr>
        <p:spPr>
          <a:xfrm>
            <a:off x="3783949" y="2595838"/>
            <a:ext cx="3986863" cy="68076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6228F"/>
              </a:gs>
              <a:gs pos="100000">
                <a:srgbClr val="D3509D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22"/>
          <p:cNvSpPr/>
          <p:nvPr/>
        </p:nvSpPr>
        <p:spPr>
          <a:xfrm>
            <a:off x="3690289" y="3557061"/>
            <a:ext cx="3964010" cy="5892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73E8F"/>
              </a:gs>
              <a:gs pos="100000">
                <a:srgbClr val="6957A1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23"/>
          <p:cNvSpPr/>
          <p:nvPr/>
        </p:nvSpPr>
        <p:spPr>
          <a:xfrm>
            <a:off x="3732212" y="4343400"/>
            <a:ext cx="3622888" cy="56558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AAA9"/>
              </a:gs>
              <a:gs pos="100000">
                <a:srgbClr val="00AED0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32"/>
          <p:cNvSpPr/>
          <p:nvPr/>
        </p:nvSpPr>
        <p:spPr>
          <a:xfrm>
            <a:off x="92823" y="705768"/>
            <a:ext cx="3018239" cy="5480760"/>
          </a:xfrm>
          <a:custGeom>
            <a:avLst/>
            <a:gdLst>
              <a:gd name="connsiteX0" fmla="*/ 0 w 2688152"/>
              <a:gd name="connsiteY0" fmla="*/ 0 h 5376300"/>
              <a:gd name="connsiteX1" fmla="*/ 2 w 2688152"/>
              <a:gd name="connsiteY1" fmla="*/ 0 h 5376300"/>
              <a:gd name="connsiteX2" fmla="*/ 2688152 w 2688152"/>
              <a:gd name="connsiteY2" fmla="*/ 2688150 h 5376300"/>
              <a:gd name="connsiteX3" fmla="*/ 2 w 2688152"/>
              <a:gd name="connsiteY3" fmla="*/ 5376300 h 5376300"/>
              <a:gd name="connsiteX4" fmla="*/ 0 w 2688152"/>
              <a:gd name="connsiteY4" fmla="*/ 5376300 h 5376300"/>
              <a:gd name="connsiteX5" fmla="*/ 0 w 2688152"/>
              <a:gd name="connsiteY5" fmla="*/ 5268071 h 5376300"/>
              <a:gd name="connsiteX6" fmla="*/ 186213 w 2688152"/>
              <a:gd name="connsiteY6" fmla="*/ 5258902 h 5376300"/>
              <a:gd name="connsiteX7" fmla="*/ 2565270 w 2688152"/>
              <a:gd name="connsiteY7" fmla="*/ 2688151 h 5376300"/>
              <a:gd name="connsiteX8" fmla="*/ 186213 w 2688152"/>
              <a:gd name="connsiteY8" fmla="*/ 117401 h 5376300"/>
              <a:gd name="connsiteX9" fmla="*/ 0 w 2688152"/>
              <a:gd name="connsiteY9" fmla="*/ 108231 h 53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88152" h="5376300">
                <a:moveTo>
                  <a:pt x="0" y="0"/>
                </a:moveTo>
                <a:lnTo>
                  <a:pt x="2" y="0"/>
                </a:lnTo>
                <a:cubicBezTo>
                  <a:pt x="1484626" y="0"/>
                  <a:pt x="2688152" y="1203526"/>
                  <a:pt x="2688152" y="2688150"/>
                </a:cubicBezTo>
                <a:cubicBezTo>
                  <a:pt x="2688152" y="4172775"/>
                  <a:pt x="1484626" y="5376300"/>
                  <a:pt x="2" y="5376300"/>
                </a:cubicBezTo>
                <a:lnTo>
                  <a:pt x="0" y="5376300"/>
                </a:lnTo>
                <a:lnTo>
                  <a:pt x="0" y="5268071"/>
                </a:lnTo>
                <a:lnTo>
                  <a:pt x="186213" y="5258902"/>
                </a:lnTo>
                <a:cubicBezTo>
                  <a:pt x="1522494" y="5126571"/>
                  <a:pt x="2565270" y="4026109"/>
                  <a:pt x="2565270" y="2688151"/>
                </a:cubicBezTo>
                <a:cubicBezTo>
                  <a:pt x="2565270" y="1350193"/>
                  <a:pt x="1522494" y="249732"/>
                  <a:pt x="186213" y="117401"/>
                </a:cubicBezTo>
                <a:lnTo>
                  <a:pt x="0" y="108231"/>
                </a:lnTo>
                <a:close/>
              </a:path>
            </a:pathLst>
          </a:custGeom>
          <a:gradFill flip="none" rotWithShape="1">
            <a:gsLst>
              <a:gs pos="75000">
                <a:srgbClr val="60509C"/>
              </a:gs>
              <a:gs pos="50000">
                <a:srgbClr val="C74399"/>
              </a:gs>
              <a:gs pos="25000">
                <a:srgbClr val="F4941D"/>
              </a:gs>
              <a:gs pos="0">
                <a:srgbClr val="FFD63A"/>
              </a:gs>
              <a:gs pos="100000">
                <a:srgbClr val="00ACBE"/>
              </a:gs>
            </a:gsLst>
            <a:lin ang="5400000" scaled="1"/>
            <a:tileRect/>
          </a:gradFill>
          <a:ln w="82550">
            <a:solidFill>
              <a:schemeClr val="bg1">
                <a:lumMod val="95000"/>
              </a:schemeClr>
            </a:solidFill>
          </a:ln>
          <a:effectLst>
            <a:glow rad="76200">
              <a:schemeClr val="accent5">
                <a:satMod val="175000"/>
                <a:alpha val="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Oval 33"/>
          <p:cNvSpPr/>
          <p:nvPr/>
        </p:nvSpPr>
        <p:spPr>
          <a:xfrm>
            <a:off x="1615478" y="999932"/>
            <a:ext cx="352449" cy="352449"/>
          </a:xfrm>
          <a:prstGeom prst="ellipse">
            <a:avLst/>
          </a:prstGeom>
          <a:solidFill>
            <a:srgbClr val="FFD539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34"/>
          <p:cNvSpPr/>
          <p:nvPr/>
        </p:nvSpPr>
        <p:spPr>
          <a:xfrm>
            <a:off x="2178124" y="1566033"/>
            <a:ext cx="352449" cy="352449"/>
          </a:xfrm>
          <a:prstGeom prst="ellipse">
            <a:avLst/>
          </a:prstGeom>
          <a:solidFill>
            <a:srgbClr val="F9951F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35"/>
          <p:cNvSpPr/>
          <p:nvPr/>
        </p:nvSpPr>
        <p:spPr>
          <a:xfrm>
            <a:off x="2766675" y="3084744"/>
            <a:ext cx="352449" cy="352449"/>
          </a:xfrm>
          <a:prstGeom prst="ellipse">
            <a:avLst/>
          </a:prstGeom>
          <a:solidFill>
            <a:srgbClr val="CC499B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36"/>
          <p:cNvSpPr/>
          <p:nvPr/>
        </p:nvSpPr>
        <p:spPr>
          <a:xfrm>
            <a:off x="2773066" y="3895827"/>
            <a:ext cx="352449" cy="352449"/>
          </a:xfrm>
          <a:prstGeom prst="ellipse">
            <a:avLst/>
          </a:prstGeom>
          <a:solidFill>
            <a:srgbClr val="64539E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37"/>
          <p:cNvSpPr/>
          <p:nvPr/>
        </p:nvSpPr>
        <p:spPr>
          <a:xfrm>
            <a:off x="2500744" y="4699222"/>
            <a:ext cx="235740" cy="322181"/>
          </a:xfrm>
          <a:prstGeom prst="ellipse">
            <a:avLst/>
          </a:prstGeom>
          <a:solidFill>
            <a:srgbClr val="00AECD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2" name="Straight Connector 40"/>
          <p:cNvCxnSpPr>
            <a:stCxn id="17" idx="6"/>
            <a:endCxn id="11" idx="1"/>
          </p:cNvCxnSpPr>
          <p:nvPr/>
        </p:nvCxnSpPr>
        <p:spPr>
          <a:xfrm flipV="1">
            <a:off x="1967927" y="414298"/>
            <a:ext cx="1635653" cy="761859"/>
          </a:xfrm>
          <a:prstGeom prst="line">
            <a:avLst/>
          </a:prstGeom>
          <a:ln>
            <a:solidFill>
              <a:srgbClr val="F8C42D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1"/>
          <p:cNvCxnSpPr>
            <a:cxnSpLocks/>
            <a:stCxn id="18" idx="6"/>
            <a:endCxn id="12" idx="1"/>
          </p:cNvCxnSpPr>
          <p:nvPr/>
        </p:nvCxnSpPr>
        <p:spPr>
          <a:xfrm flipV="1">
            <a:off x="2530573" y="1237274"/>
            <a:ext cx="1228052" cy="504984"/>
          </a:xfrm>
          <a:prstGeom prst="line">
            <a:avLst/>
          </a:prstGeom>
          <a:ln>
            <a:solidFill>
              <a:srgbClr val="E25B20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4"/>
          <p:cNvCxnSpPr>
            <a:cxnSpLocks/>
            <a:stCxn id="19" idx="6"/>
            <a:endCxn id="13" idx="1"/>
          </p:cNvCxnSpPr>
          <p:nvPr/>
        </p:nvCxnSpPr>
        <p:spPr>
          <a:xfrm flipV="1">
            <a:off x="3119124" y="2936219"/>
            <a:ext cx="664825" cy="324750"/>
          </a:xfrm>
          <a:prstGeom prst="line">
            <a:avLst/>
          </a:prstGeom>
          <a:ln>
            <a:solidFill>
              <a:srgbClr val="902676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/>
          <p:cNvCxnSpPr>
            <a:cxnSpLocks/>
            <a:stCxn id="20" idx="6"/>
            <a:endCxn id="14" idx="1"/>
          </p:cNvCxnSpPr>
          <p:nvPr/>
        </p:nvCxnSpPr>
        <p:spPr>
          <a:xfrm flipV="1">
            <a:off x="3125515" y="3851667"/>
            <a:ext cx="564774" cy="220385"/>
          </a:xfrm>
          <a:prstGeom prst="line">
            <a:avLst/>
          </a:prstGeom>
          <a:ln>
            <a:solidFill>
              <a:srgbClr val="4E4180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50"/>
          <p:cNvCxnSpPr>
            <a:cxnSpLocks/>
            <a:stCxn id="21" idx="6"/>
            <a:endCxn id="15" idx="1"/>
          </p:cNvCxnSpPr>
          <p:nvPr/>
        </p:nvCxnSpPr>
        <p:spPr>
          <a:xfrm flipV="1">
            <a:off x="2736484" y="4626195"/>
            <a:ext cx="995728" cy="234118"/>
          </a:xfrm>
          <a:prstGeom prst="line">
            <a:avLst/>
          </a:prstGeom>
          <a:ln>
            <a:solidFill>
              <a:srgbClr val="008296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58"/>
          <p:cNvSpPr/>
          <p:nvPr/>
        </p:nvSpPr>
        <p:spPr>
          <a:xfrm>
            <a:off x="3709943" y="173912"/>
            <a:ext cx="445916" cy="480772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Oval 59"/>
          <p:cNvSpPr/>
          <p:nvPr/>
        </p:nvSpPr>
        <p:spPr>
          <a:xfrm>
            <a:off x="3828236" y="1016831"/>
            <a:ext cx="451975" cy="460177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60"/>
          <p:cNvSpPr/>
          <p:nvPr/>
        </p:nvSpPr>
        <p:spPr>
          <a:xfrm>
            <a:off x="3854487" y="2647973"/>
            <a:ext cx="505715" cy="494062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61"/>
          <p:cNvSpPr/>
          <p:nvPr/>
        </p:nvSpPr>
        <p:spPr>
          <a:xfrm>
            <a:off x="3854487" y="3658811"/>
            <a:ext cx="476576" cy="385420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62"/>
          <p:cNvSpPr/>
          <p:nvPr/>
        </p:nvSpPr>
        <p:spPr>
          <a:xfrm>
            <a:off x="3828236" y="4424493"/>
            <a:ext cx="420287" cy="416226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8" name="Graphic 70" descr="Laptop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4821" y="2739212"/>
            <a:ext cx="325390" cy="325390"/>
          </a:xfrm>
          <a:prstGeom prst="rect">
            <a:avLst/>
          </a:prstGeom>
        </p:spPr>
      </p:pic>
      <p:pic>
        <p:nvPicPr>
          <p:cNvPr id="39" name="Graphic 72" descr="Monitor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85188" y="3736589"/>
            <a:ext cx="215174" cy="215174"/>
          </a:xfrm>
          <a:prstGeom prst="rect">
            <a:avLst/>
          </a:prstGeom>
        </p:spPr>
      </p:pic>
      <p:pic>
        <p:nvPicPr>
          <p:cNvPr id="40" name="Graphic 74" descr="Smart Pho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5457" y="239895"/>
            <a:ext cx="353039" cy="353039"/>
          </a:xfrm>
          <a:prstGeom prst="rect">
            <a:avLst/>
          </a:prstGeom>
        </p:spPr>
      </p:pic>
      <p:pic>
        <p:nvPicPr>
          <p:cNvPr id="41" name="Graphic 76" descr="Tablet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2558" y="1039274"/>
            <a:ext cx="396000" cy="396000"/>
          </a:xfrm>
          <a:prstGeom prst="rect">
            <a:avLst/>
          </a:prstGeom>
        </p:spPr>
      </p:pic>
      <p:pic>
        <p:nvPicPr>
          <p:cNvPr id="42" name="Graphic 78" descr="Computer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91283" y="4512573"/>
            <a:ext cx="275048" cy="275048"/>
          </a:xfrm>
          <a:prstGeom prst="rect">
            <a:avLst/>
          </a:prstGeom>
        </p:spPr>
      </p:pic>
      <p:sp>
        <p:nvSpPr>
          <p:cNvPr id="53" name="TextBox 94"/>
          <p:cNvSpPr txBox="1"/>
          <p:nvPr/>
        </p:nvSpPr>
        <p:spPr>
          <a:xfrm>
            <a:off x="4262223" y="226486"/>
            <a:ext cx="2610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Introduction</a:t>
            </a:r>
            <a:endParaRPr lang="fr-FR" sz="11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54" name="TextBox 95"/>
          <p:cNvSpPr txBox="1"/>
          <p:nvPr/>
        </p:nvSpPr>
        <p:spPr>
          <a:xfrm>
            <a:off x="4250199" y="997070"/>
            <a:ext cx="4050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Présentation de MCS</a:t>
            </a:r>
            <a:endParaRPr lang="en-IN" sz="11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55" name="TextBox 96"/>
          <p:cNvSpPr txBox="1"/>
          <p:nvPr/>
        </p:nvSpPr>
        <p:spPr>
          <a:xfrm>
            <a:off x="4494212" y="2819400"/>
            <a:ext cx="368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Analyse &amp; Conception</a:t>
            </a:r>
            <a:endParaRPr lang="en-IN" sz="11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56" name="TextBox 97"/>
          <p:cNvSpPr txBox="1"/>
          <p:nvPr/>
        </p:nvSpPr>
        <p:spPr>
          <a:xfrm>
            <a:off x="4189412" y="3505200"/>
            <a:ext cx="3320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Implémentation</a:t>
            </a:r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  de la Solution</a:t>
            </a:r>
            <a:endParaRPr lang="en-IN" sz="11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57" name="TextBox 98"/>
          <p:cNvSpPr txBox="1"/>
          <p:nvPr/>
        </p:nvSpPr>
        <p:spPr>
          <a:xfrm>
            <a:off x="4316379" y="4461451"/>
            <a:ext cx="261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Conclusion</a:t>
            </a:r>
            <a:endParaRPr lang="en-IN" sz="18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grpSp>
        <p:nvGrpSpPr>
          <p:cNvPr id="78" name="Groupe 77"/>
          <p:cNvGrpSpPr/>
          <p:nvPr/>
        </p:nvGrpSpPr>
        <p:grpSpPr>
          <a:xfrm>
            <a:off x="-1538436" y="1242763"/>
            <a:ext cx="4069009" cy="4058445"/>
            <a:chOff x="8504763" y="609122"/>
            <a:chExt cx="3811991" cy="3851130"/>
          </a:xfrm>
        </p:grpSpPr>
        <p:grpSp>
          <p:nvGrpSpPr>
            <p:cNvPr id="76" name="Groupe 75"/>
            <p:cNvGrpSpPr/>
            <p:nvPr/>
          </p:nvGrpSpPr>
          <p:grpSpPr>
            <a:xfrm>
              <a:off x="8504763" y="609122"/>
              <a:ext cx="3811991" cy="3851130"/>
              <a:chOff x="8504763" y="609122"/>
              <a:chExt cx="3811991" cy="3851130"/>
            </a:xfrm>
          </p:grpSpPr>
          <p:grpSp>
            <p:nvGrpSpPr>
              <p:cNvPr id="74" name="Groupe 73"/>
              <p:cNvGrpSpPr/>
              <p:nvPr/>
            </p:nvGrpSpPr>
            <p:grpSpPr>
              <a:xfrm>
                <a:off x="8504763" y="609122"/>
                <a:ext cx="3811991" cy="3851130"/>
                <a:chOff x="8497464" y="1184395"/>
                <a:chExt cx="3811991" cy="3851130"/>
              </a:xfrm>
            </p:grpSpPr>
            <p:grpSp>
              <p:nvGrpSpPr>
                <p:cNvPr id="67" name="Groupe 66"/>
                <p:cNvGrpSpPr/>
                <p:nvPr/>
              </p:nvGrpSpPr>
              <p:grpSpPr>
                <a:xfrm>
                  <a:off x="8497464" y="1184395"/>
                  <a:ext cx="3811991" cy="3851130"/>
                  <a:chOff x="8497464" y="1184395"/>
                  <a:chExt cx="3811991" cy="3851130"/>
                </a:xfrm>
              </p:grpSpPr>
              <p:grpSp>
                <p:nvGrpSpPr>
                  <p:cNvPr id="5" name="Groupe 4"/>
                  <p:cNvGrpSpPr/>
                  <p:nvPr/>
                </p:nvGrpSpPr>
                <p:grpSpPr>
                  <a:xfrm>
                    <a:off x="8497464" y="1184395"/>
                    <a:ext cx="3811991" cy="3851130"/>
                    <a:chOff x="8497464" y="1184395"/>
                    <a:chExt cx="3811991" cy="3851130"/>
                  </a:xfrm>
                </p:grpSpPr>
                <p:grpSp>
                  <p:nvGrpSpPr>
                    <p:cNvPr id="4" name="Groupe 3"/>
                    <p:cNvGrpSpPr/>
                    <p:nvPr/>
                  </p:nvGrpSpPr>
                  <p:grpSpPr>
                    <a:xfrm>
                      <a:off x="8497464" y="1184395"/>
                      <a:ext cx="3811991" cy="3851130"/>
                      <a:chOff x="8497464" y="1184395"/>
                      <a:chExt cx="3811991" cy="3851130"/>
                    </a:xfrm>
                  </p:grpSpPr>
                  <p:sp>
                    <p:nvSpPr>
                      <p:cNvPr id="63" name="Organigramme : Connecteur 62"/>
                      <p:cNvSpPr/>
                      <p:nvPr/>
                    </p:nvSpPr>
                    <p:spPr>
                      <a:xfrm>
                        <a:off x="8497464" y="1184395"/>
                        <a:ext cx="3811991" cy="3851130"/>
                      </a:xfrm>
                      <a:prstGeom prst="flowChartConnector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  <p:sp>
                    <p:nvSpPr>
                      <p:cNvPr id="33" name="Oval 64"/>
                      <p:cNvSpPr/>
                      <p:nvPr/>
                    </p:nvSpPr>
                    <p:spPr>
                      <a:xfrm>
                        <a:off x="8692167" y="1382644"/>
                        <a:ext cx="3457977" cy="3454632"/>
                      </a:xfrm>
                      <a:prstGeom prst="ellipse">
                        <a:avLst/>
                      </a:prstGeom>
                      <a:noFill/>
                      <a:ln w="15875">
                        <a:solidFill>
                          <a:schemeClr val="tx1"/>
                        </a:solidFill>
                        <a:prstDash val="lgDash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/>
                      </a:p>
                    </p:txBody>
                  </p:sp>
                </p:grpSp>
                <p:pic>
                  <p:nvPicPr>
                    <p:cNvPr id="44" name="Graphic 82" descr="Stopwatch"/>
                    <p:cNvPicPr>
                      <a:picLocks noChangeAspect="1"/>
                    </p:cNvPicPr>
                    <p:nvPr/>
                  </p:nvPicPr>
                  <p:blipFill>
                    <a:blip r:embed="rId13" cstate="print">
                      <a:extLst>
                        <a:ext uri="{28A0092B-C50C-407E-A947-70E740481C1C}">
                          <a14:useLocalDpi xmlns="" xmlns:a14="http://schemas.microsoft.com/office/drawing/2010/main" val="0"/>
                        </a:ext>
                        <a:ext uri="{96DAC541-7B7A-43D3-8B79-37D633B846F1}">
                          <asvg:svgBlip xmlns="" xmlns:asvg="http://schemas.microsoft.com/office/drawing/2016/SVG/main" r:embed="rId1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545440" y="3528823"/>
                      <a:ext cx="360000" cy="360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5" name="Graphic 84" descr="Lightbulb"/>
                    <p:cNvPicPr>
                      <a:picLocks noChangeAspect="1"/>
                    </p:cNvPicPr>
                    <p:nvPr/>
                  </p:nvPicPr>
                  <p:blipFill>
                    <a:blip r:embed="rId17" cstate="print">
                      <a:extLst>
                        <a:ext uri="{28A0092B-C50C-407E-A947-70E740481C1C}">
                          <a14:useLocalDpi xmlns="" xmlns:a14="http://schemas.microsoft.com/office/drawing/2010/main" val="0"/>
                        </a:ext>
                        <a:ext uri="{96DAC541-7B7A-43D3-8B79-37D633B846F1}">
                          <asvg:svgBlip xmlns="" xmlns:asvg="http://schemas.microsoft.com/office/drawing/2016/SVG/main" r:embed="rId1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342989" y="4437152"/>
                      <a:ext cx="360000" cy="360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6" name="Graphic 86" descr="Head with Gears"/>
                    <p:cNvPicPr>
                      <a:picLocks noChangeAspect="1"/>
                    </p:cNvPicPr>
                    <p:nvPr/>
                  </p:nvPicPr>
                  <p:blipFill>
                    <a:blip r:embed="rId19" cstate="print">
                      <a:extLst>
                        <a:ext uri="{28A0092B-C50C-407E-A947-70E740481C1C}">
                          <a14:useLocalDpi xmlns="" xmlns:a14="http://schemas.microsoft.com/office/drawing/2010/main" val="0"/>
                        </a:ext>
                        <a:ext uri="{96DAC541-7B7A-43D3-8B79-37D633B846F1}">
                          <asvg:svgBlip xmlns="" xmlns:asvg="http://schemas.microsoft.com/office/drawing/2016/SVG/main" r:embed="rId2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108918" y="4119645"/>
                      <a:ext cx="360000" cy="360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0" name="Graphic 91" descr="Teacher"/>
                    <p:cNvPicPr>
                      <a:picLocks noChangeAspect="1"/>
                    </p:cNvPicPr>
                    <p:nvPr/>
                  </p:nvPicPr>
                  <p:blipFill>
                    <a:blip r:embed="rId21" cstate="print">
                      <a:extLst>
                        <a:ext uri="{28A0092B-C50C-407E-A947-70E740481C1C}">
                          <a14:useLocalDpi xmlns="" xmlns:a14="http://schemas.microsoft.com/office/drawing/2010/main" val="0"/>
                        </a:ext>
                        <a:ext uri="{96DAC541-7B7A-43D3-8B79-37D633B846F1}">
                          <asvg:svgBlip xmlns="" xmlns:asvg="http://schemas.microsoft.com/office/drawing/2016/SVG/main" r:embed="rId2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994879" y="1441144"/>
                      <a:ext cx="719316" cy="719316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66" name="Oval 65"/>
                  <p:cNvSpPr/>
                  <p:nvPr/>
                </p:nvSpPr>
                <p:spPr>
                  <a:xfrm>
                    <a:off x="8692167" y="3138151"/>
                    <a:ext cx="112102" cy="11210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73" name="Oval 65"/>
                <p:cNvSpPr/>
                <p:nvPr/>
              </p:nvSpPr>
              <p:spPr>
                <a:xfrm>
                  <a:off x="10387789" y="1343602"/>
                  <a:ext cx="112102" cy="11210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75" name="Oval 65"/>
              <p:cNvSpPr/>
              <p:nvPr/>
            </p:nvSpPr>
            <p:spPr>
              <a:xfrm>
                <a:off x="10474237" y="4219680"/>
                <a:ext cx="112102" cy="11210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7" name="Oval 65"/>
            <p:cNvSpPr/>
            <p:nvPr/>
          </p:nvSpPr>
          <p:spPr>
            <a:xfrm>
              <a:off x="12132774" y="2551099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1" name="Rectangle 80"/>
          <p:cNvSpPr/>
          <p:nvPr/>
        </p:nvSpPr>
        <p:spPr>
          <a:xfrm>
            <a:off x="8073420" y="-12068"/>
            <a:ext cx="385364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0" i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Plan de Présentation</a:t>
            </a:r>
            <a:endParaRPr lang="fr-FR" sz="5400" b="0" i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82" name="Espace réservé du numéro de diapositive 8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3</a:t>
            </a:fld>
            <a:endParaRPr lang="fr-FR" dirty="0"/>
          </a:p>
        </p:txBody>
      </p:sp>
      <p:sp>
        <p:nvSpPr>
          <p:cNvPr id="79" name="Rectangle: Rounded Corners 20"/>
          <p:cNvSpPr/>
          <p:nvPr/>
        </p:nvSpPr>
        <p:spPr>
          <a:xfrm>
            <a:off x="3883879" y="1729265"/>
            <a:ext cx="3638716" cy="5543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5222"/>
              </a:gs>
              <a:gs pos="100000">
                <a:srgbClr val="FBA31A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" name="Oval 59"/>
          <p:cNvSpPr/>
          <p:nvPr/>
        </p:nvSpPr>
        <p:spPr>
          <a:xfrm>
            <a:off x="3961485" y="1790545"/>
            <a:ext cx="448821" cy="436873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4" name="Graphic 76" descr="Tablet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23089" y="1858953"/>
            <a:ext cx="307974" cy="307974"/>
          </a:xfrm>
          <a:prstGeom prst="rect">
            <a:avLst/>
          </a:prstGeom>
        </p:spPr>
      </p:pic>
      <p:sp>
        <p:nvSpPr>
          <p:cNvPr id="85" name="TextBox 95"/>
          <p:cNvSpPr txBox="1"/>
          <p:nvPr/>
        </p:nvSpPr>
        <p:spPr>
          <a:xfrm>
            <a:off x="4390096" y="1652491"/>
            <a:ext cx="26103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Déroulement du Stage et </a:t>
            </a:r>
          </a:p>
          <a:p>
            <a:endParaRPr lang="en-IN" sz="2000" dirty="0" smtClean="0">
              <a:solidFill>
                <a:schemeClr val="bg1"/>
              </a:solidFill>
              <a:latin typeface="Open Sans Condensed" panose="020B0806030504020204" pitchFamily="34" charset="0"/>
              <a:ea typeface="Open Sans Condensed" panose="020B0806030504020204" pitchFamily="34" charset="0"/>
              <a:cs typeface="Open Sans Condensed" panose="020B0806030504020204" pitchFamily="34" charset="0"/>
            </a:endParaRPr>
          </a:p>
          <a:p>
            <a:r>
              <a:rPr lang="en-IN" sz="20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Presentation project, </a:t>
            </a:r>
            <a:endParaRPr lang="en-IN" sz="11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cxnSp>
        <p:nvCxnSpPr>
          <p:cNvPr id="86" name="Straight Connector 41"/>
          <p:cNvCxnSpPr>
            <a:cxnSpLocks/>
            <a:stCxn id="87" idx="7"/>
            <a:endCxn id="79" idx="1"/>
          </p:cNvCxnSpPr>
          <p:nvPr/>
        </p:nvCxnSpPr>
        <p:spPr>
          <a:xfrm flipV="1">
            <a:off x="2897676" y="2006464"/>
            <a:ext cx="986203" cy="362973"/>
          </a:xfrm>
          <a:prstGeom prst="line">
            <a:avLst/>
          </a:prstGeom>
          <a:ln>
            <a:solidFill>
              <a:srgbClr val="E25B20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34"/>
          <p:cNvSpPr/>
          <p:nvPr/>
        </p:nvSpPr>
        <p:spPr>
          <a:xfrm>
            <a:off x="2596842" y="2317822"/>
            <a:ext cx="352449" cy="352449"/>
          </a:xfrm>
          <a:prstGeom prst="ellipse">
            <a:avLst/>
          </a:prstGeom>
          <a:solidFill>
            <a:srgbClr val="F9951F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3" name="Rectangle: Rounded Corners 23"/>
          <p:cNvSpPr/>
          <p:nvPr/>
        </p:nvSpPr>
        <p:spPr>
          <a:xfrm>
            <a:off x="3579812" y="5105400"/>
            <a:ext cx="3622888" cy="56558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AAA9"/>
              </a:gs>
              <a:gs pos="100000">
                <a:srgbClr val="00AED0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4" name="Oval 37"/>
          <p:cNvSpPr/>
          <p:nvPr/>
        </p:nvSpPr>
        <p:spPr>
          <a:xfrm>
            <a:off x="1894956" y="5397821"/>
            <a:ext cx="235740" cy="322181"/>
          </a:xfrm>
          <a:prstGeom prst="ellipse">
            <a:avLst/>
          </a:prstGeom>
          <a:solidFill>
            <a:srgbClr val="00AECD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5" name="Straight Connector 50"/>
          <p:cNvCxnSpPr>
            <a:cxnSpLocks/>
            <a:stCxn id="94" idx="6"/>
            <a:endCxn id="93" idx="1"/>
          </p:cNvCxnSpPr>
          <p:nvPr/>
        </p:nvCxnSpPr>
        <p:spPr>
          <a:xfrm flipV="1">
            <a:off x="2130696" y="5388195"/>
            <a:ext cx="1449116" cy="170717"/>
          </a:xfrm>
          <a:prstGeom prst="line">
            <a:avLst/>
          </a:prstGeom>
          <a:ln>
            <a:solidFill>
              <a:srgbClr val="008296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37"/>
          <p:cNvSpPr/>
          <p:nvPr/>
        </p:nvSpPr>
        <p:spPr>
          <a:xfrm>
            <a:off x="1013352" y="5876735"/>
            <a:ext cx="235740" cy="322181"/>
          </a:xfrm>
          <a:prstGeom prst="ellipse">
            <a:avLst/>
          </a:prstGeom>
          <a:solidFill>
            <a:srgbClr val="00AECD"/>
          </a:solidFill>
          <a:ln>
            <a:noFill/>
          </a:ln>
          <a:effectLst>
            <a:outerShdw blurRad="2540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8" name="Straight Connector 50"/>
          <p:cNvCxnSpPr>
            <a:cxnSpLocks/>
            <a:stCxn id="97" idx="6"/>
          </p:cNvCxnSpPr>
          <p:nvPr/>
        </p:nvCxnSpPr>
        <p:spPr>
          <a:xfrm>
            <a:off x="1249092" y="6037826"/>
            <a:ext cx="2141685" cy="209819"/>
          </a:xfrm>
          <a:prstGeom prst="line">
            <a:avLst/>
          </a:prstGeom>
          <a:ln>
            <a:solidFill>
              <a:srgbClr val="008296"/>
            </a:solidFill>
            <a:prstDash val="soli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23"/>
          <p:cNvSpPr/>
          <p:nvPr/>
        </p:nvSpPr>
        <p:spPr>
          <a:xfrm>
            <a:off x="3122612" y="5943600"/>
            <a:ext cx="3622888" cy="56558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AAA9"/>
              </a:gs>
              <a:gs pos="100000">
                <a:srgbClr val="00AED0"/>
              </a:gs>
            </a:gsLst>
            <a:lin ang="13500000" scaled="1"/>
            <a:tileRect/>
          </a:gradFill>
          <a:ln>
            <a:noFill/>
          </a:ln>
          <a:effectLst>
            <a:innerShdw blurRad="254000" dist="381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" name="TextBox 98"/>
          <p:cNvSpPr txBox="1"/>
          <p:nvPr/>
        </p:nvSpPr>
        <p:spPr>
          <a:xfrm>
            <a:off x="4113212" y="5181600"/>
            <a:ext cx="261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Bibliographie</a:t>
            </a:r>
            <a:endParaRPr lang="en-IN" sz="18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05" name="TextBox 98"/>
          <p:cNvSpPr txBox="1"/>
          <p:nvPr/>
        </p:nvSpPr>
        <p:spPr>
          <a:xfrm>
            <a:off x="3784925" y="6014774"/>
            <a:ext cx="261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>
                <a:solidFill>
                  <a:schemeClr val="bg1"/>
                </a:solidFill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Démonstration</a:t>
            </a:r>
            <a:endParaRPr lang="en-IN" sz="180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06" name="Oval 62"/>
          <p:cNvSpPr/>
          <p:nvPr/>
        </p:nvSpPr>
        <p:spPr>
          <a:xfrm>
            <a:off x="3679673" y="5257135"/>
            <a:ext cx="420287" cy="416226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7" name="Oval 62"/>
          <p:cNvSpPr/>
          <p:nvPr/>
        </p:nvSpPr>
        <p:spPr>
          <a:xfrm>
            <a:off x="3270002" y="5997752"/>
            <a:ext cx="420287" cy="416226"/>
          </a:xfrm>
          <a:prstGeom prst="ellipse">
            <a:avLst/>
          </a:prstGeom>
          <a:gradFill flip="none" rotWithShape="1">
            <a:gsLst>
              <a:gs pos="0">
                <a:srgbClr val="DDE1E2"/>
              </a:gs>
              <a:gs pos="100000">
                <a:srgbClr val="FFFFFF"/>
              </a:gs>
            </a:gsLst>
            <a:lin ang="16200000" scaled="1"/>
            <a:tileRect/>
          </a:gradFill>
          <a:ln w="558800">
            <a:noFill/>
          </a:ln>
          <a:effectLst>
            <a:outerShdw blurRad="330200" dist="63500" dir="2700000" sx="106000" sy="106000" algn="tl" rotWithShape="0">
              <a:schemeClr val="tx1">
                <a:lumMod val="75000"/>
                <a:lumOff val="2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 extrusionH="152400" prstMaterial="matte">
            <a:bevelT w="101600" h="12700" prst="softRound"/>
            <a:contourClr>
              <a:schemeClr val="bg1">
                <a:lumMod val="7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8" name="Graphic 78" descr="Computer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3298" y="5344543"/>
            <a:ext cx="275048" cy="275048"/>
          </a:xfrm>
          <a:prstGeom prst="rect">
            <a:avLst/>
          </a:prstGeom>
        </p:spPr>
      </p:pic>
      <p:pic>
        <p:nvPicPr>
          <p:cNvPr id="109" name="Graphic 78" descr="Computer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6802" y="6084160"/>
            <a:ext cx="275048" cy="27504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85" grpId="0"/>
      <p:bldP spid="93" grpId="0" animBg="1"/>
      <p:bldP spid="1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6625717" y="172278"/>
            <a:ext cx="4797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Introduction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4770925" y="734510"/>
            <a:ext cx="4203807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4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5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518348" y="172278"/>
            <a:ext cx="5904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Présentation de MCS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438228" y="734510"/>
            <a:ext cx="6552727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909836" y="1065910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1- Historique</a:t>
            </a:r>
            <a:endParaRPr lang="fr-FR" sz="24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911660" y="1582423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</a:t>
            </a:r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- Fiche </a:t>
            </a:r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Signalétique</a:t>
            </a:r>
            <a:endParaRPr lang="fr-FR" sz="24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927339" y="2098936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3- </a:t>
            </a:r>
            <a:endParaRPr lang="fr-FR" sz="24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1884" y="2098936"/>
            <a:ext cx="30145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Les Services Offerts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927339" y="2628823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4</a:t>
            </a:r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- </a:t>
            </a:r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Organisation </a:t>
            </a:r>
            <a:endParaRPr lang="fr-FR" sz="24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42025" y="3158710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5</a:t>
            </a:r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- Objectif</a:t>
            </a:r>
            <a:endParaRPr lang="fr-FR" sz="24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944355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836612" y="175260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2- Tâches effectuées pendant le stage</a:t>
            </a:r>
            <a:endParaRPr lang="fr-FR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6</a:t>
            </a:fld>
            <a:endParaRPr lang="fr-FR" dirty="0"/>
          </a:p>
        </p:txBody>
      </p:sp>
      <p:sp>
        <p:nvSpPr>
          <p:cNvPr id="18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65"/>
          <p:cNvSpPr/>
          <p:nvPr/>
        </p:nvSpPr>
        <p:spPr>
          <a:xfrm>
            <a:off x="12006618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65"/>
          <p:cNvSpPr/>
          <p:nvPr/>
        </p:nvSpPr>
        <p:spPr>
          <a:xfrm>
            <a:off x="11558048" y="54140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674812" y="2590800"/>
            <a:ext cx="9649072" cy="228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 </a:t>
            </a:r>
            <a:r>
              <a:rPr lang="fr-FR" dirty="0">
                <a:solidFill>
                  <a:srgbClr val="00B0F0"/>
                </a:solidFill>
              </a:rPr>
              <a:t>La rédaction d’un document de test et remarque sur </a:t>
            </a:r>
            <a:r>
              <a:rPr lang="fr-FR" dirty="0" smtClean="0">
                <a:solidFill>
                  <a:srgbClr val="00B0F0"/>
                </a:solidFill>
              </a:rPr>
              <a:t>l’application;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Formation du langage demander;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Formation du Framework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La </a:t>
            </a:r>
            <a:r>
              <a:rPr lang="fr-FR" dirty="0">
                <a:solidFill>
                  <a:srgbClr val="00B0F0"/>
                </a:solidFill>
              </a:rPr>
              <a:t>rédaction d’un manuel d’utilisation de l’application </a:t>
            </a:r>
            <a:r>
              <a:rPr lang="fr-FR" dirty="0" smtClean="0">
                <a:solidFill>
                  <a:srgbClr val="00B0F0"/>
                </a:solidFill>
              </a:rPr>
              <a:t> Branch Cashier 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Le </a:t>
            </a:r>
            <a:r>
              <a:rPr lang="fr-FR" dirty="0">
                <a:solidFill>
                  <a:srgbClr val="00B0F0"/>
                </a:solidFill>
              </a:rPr>
              <a:t>dossier de spécification des besoins de l’application </a:t>
            </a:r>
            <a:r>
              <a:rPr lang="fr-FR" dirty="0" smtClean="0">
                <a:solidFill>
                  <a:srgbClr val="00B0F0"/>
                </a:solidFill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dirty="0" smtClean="0">
                <a:solidFill>
                  <a:srgbClr val="00B0F0"/>
                </a:solidFill>
              </a:rPr>
              <a:t>La </a:t>
            </a:r>
            <a:r>
              <a:rPr lang="fr-FR" dirty="0">
                <a:solidFill>
                  <a:srgbClr val="00B0F0"/>
                </a:solidFill>
              </a:rPr>
              <a:t>conception des diagrammes de </a:t>
            </a:r>
            <a:r>
              <a:rPr lang="fr-FR" dirty="0" smtClean="0">
                <a:solidFill>
                  <a:srgbClr val="00B0F0"/>
                </a:solidFill>
              </a:rPr>
              <a:t>l’application </a:t>
            </a:r>
            <a:r>
              <a:rPr lang="fr-FR" dirty="0">
                <a:solidFill>
                  <a:srgbClr val="00B0F0"/>
                </a:solidFill>
              </a:rPr>
              <a:t>;</a:t>
            </a:r>
            <a:r>
              <a:rPr lang="fr-FR" sz="2800" dirty="0">
                <a:solidFill>
                  <a:srgbClr val="00B0F0"/>
                </a:solidFill>
              </a:rPr>
              <a:t> 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836612" y="91440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1- Présentation du service d’’accueil</a:t>
            </a:r>
            <a:endParaRPr lang="fr-FR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684212" y="480060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2- Problématique et Choir du thème</a:t>
            </a:r>
            <a:endParaRPr lang="fr-FR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448522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7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065212" y="914400"/>
            <a:ext cx="62564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3</a:t>
            </a:r>
            <a:r>
              <a:rPr lang="fr-FR" sz="24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- </a:t>
            </a:r>
            <a:r>
              <a:rPr lang="fr-FR" sz="30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Cahier de charges du projet</a:t>
            </a:r>
            <a:endParaRPr lang="fr-FR" sz="30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32012" y="17526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fr-FR" sz="3000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	</a:t>
            </a: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Etude de l’Existant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pic>
        <p:nvPicPr>
          <p:cNvPr id="9" name="Image 8" descr="r1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989012" y="2819400"/>
            <a:ext cx="4114800" cy="284855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2812" y="22860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r>
              <a:rPr lang="fr-FR" sz="3000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CIPCAR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pic>
        <p:nvPicPr>
          <p:cNvPr id="12" name="Image 11" descr="r2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7694612" y="2743200"/>
            <a:ext cx="4131310" cy="29989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63371" y="22860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lvl="4">
              <a:buFont typeface="Wingdings" pitchFamily="2" charset="2"/>
              <a:buChar char="Ø"/>
            </a:pPr>
            <a:r>
              <a:rPr lang="fr-FR" sz="3000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Win Flotte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="" xmlns:p14="http://schemas.microsoft.com/office/powerpoint/2010/main" val="32724311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8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2817812" y="12192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fr-FR" sz="3000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	</a:t>
            </a: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Critique de l’Existant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8" name="Rectangle 7"/>
          <p:cNvSpPr/>
          <p:nvPr/>
        </p:nvSpPr>
        <p:spPr>
          <a:xfrm>
            <a:off x="2894012" y="18288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fr-FR" sz="3000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	</a:t>
            </a: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Proposition des solutions</a:t>
            </a:r>
            <a:endParaRPr lang="fr-FR" sz="2800" dirty="0"/>
          </a:p>
        </p:txBody>
      </p:sp>
      <p:sp>
        <p:nvSpPr>
          <p:cNvPr id="9" name="Rectangle 8"/>
          <p:cNvSpPr/>
          <p:nvPr/>
        </p:nvSpPr>
        <p:spPr>
          <a:xfrm>
            <a:off x="4341812" y="2895600"/>
            <a:ext cx="6022241" cy="500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endParaRPr lang="fr-FR" sz="3000" b="1" dirty="0" err="1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Localisation</a:t>
            </a:r>
          </a:p>
          <a:p>
            <a:pPr>
              <a:buFont typeface="Wingdings" pitchFamily="2" charset="2"/>
              <a:buChar char="Ø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La facture</a:t>
            </a: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L’</a:t>
            </a:r>
            <a:r>
              <a:rPr lang="fr-FR" sz="3000" b="1" dirty="0" err="1" smtClean="0">
                <a:solidFill>
                  <a:srgbClr val="00B0F0"/>
                </a:solidFill>
                <a:latin typeface="Constantia" panose="02030602050306030303" pitchFamily="18" charset="0"/>
              </a:rPr>
              <a:t>assurence</a:t>
            </a: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 du véhicules et du conducteur</a:t>
            </a:r>
          </a:p>
          <a:p>
            <a:pPr>
              <a:buFont typeface="Wingdings" pitchFamily="2" charset="2"/>
              <a:buChar char="Ø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Disponibilité des véhicules</a:t>
            </a:r>
          </a:p>
          <a:p>
            <a:pPr>
              <a:buFont typeface="Wingdings" pitchFamily="2" charset="2"/>
              <a:buChar char="Ø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Disponibilité  de l’application      a tour moment et a quelque soit le lieu</a:t>
            </a:r>
          </a:p>
          <a:p>
            <a:endParaRPr lang="fr-FR" sz="3000" b="1" dirty="0" smtClean="0">
              <a:solidFill>
                <a:srgbClr val="00B0F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473500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9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055812" y="914400"/>
            <a:ext cx="8321973" cy="5533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fr-FR" sz="3000" b="1" dirty="0" smtClean="0">
                <a:solidFill>
                  <a:srgbClr val="00B0F0"/>
                </a:solidFill>
                <a:latin typeface="Constantia" panose="02030602050306030303" pitchFamily="18" charset="0"/>
              </a:rPr>
              <a:t> Contraintes</a:t>
            </a:r>
            <a:endParaRPr lang="fr-FR" sz="2800" dirty="0"/>
          </a:p>
        </p:txBody>
      </p:sp>
      <p:sp>
        <p:nvSpPr>
          <p:cNvPr id="7" name="Rectangle 6"/>
          <p:cNvSpPr/>
          <p:nvPr/>
        </p:nvSpPr>
        <p:spPr>
          <a:xfrm>
            <a:off x="2817812" y="1447800"/>
            <a:ext cx="8677272" cy="286232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rgbClr val="00B0F0"/>
                </a:solidFill>
              </a:rPr>
              <a:t>La </a:t>
            </a:r>
            <a:r>
              <a:rPr lang="fr-FR" dirty="0">
                <a:solidFill>
                  <a:srgbClr val="00B0F0"/>
                </a:solidFill>
              </a:rPr>
              <a:t>date de livraison de cette plateforme est de </a:t>
            </a:r>
            <a:r>
              <a:rPr lang="fr-FR" dirty="0" smtClean="0">
                <a:solidFill>
                  <a:srgbClr val="00B0F0"/>
                </a:solidFill>
              </a:rPr>
              <a:t>un mois</a:t>
            </a:r>
            <a:r>
              <a:rPr lang="fr-FR" dirty="0" smtClean="0">
                <a:solidFill>
                  <a:srgbClr val="00B0F0"/>
                </a:solidFill>
              </a:rPr>
              <a:t>;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rgbClr val="00B0F0"/>
                </a:solidFill>
              </a:rPr>
              <a:t>L’application </a:t>
            </a:r>
            <a:r>
              <a:rPr lang="fr-FR" dirty="0">
                <a:solidFill>
                  <a:srgbClr val="00B0F0"/>
                </a:solidFill>
              </a:rPr>
              <a:t>doit être bilingue (anglais et </a:t>
            </a:r>
            <a:r>
              <a:rPr lang="fr-FR" dirty="0" smtClean="0">
                <a:solidFill>
                  <a:srgbClr val="00B0F0"/>
                </a:solidFill>
              </a:rPr>
              <a:t>français);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rgbClr val="00B0F0"/>
                </a:solidFill>
              </a:rPr>
              <a:t>L’application </a:t>
            </a:r>
            <a:r>
              <a:rPr lang="fr-FR" dirty="0">
                <a:solidFill>
                  <a:srgbClr val="00B0F0"/>
                </a:solidFill>
              </a:rPr>
              <a:t>doit communiquer avec une base de </a:t>
            </a:r>
            <a:r>
              <a:rPr lang="fr-FR" dirty="0" smtClean="0">
                <a:solidFill>
                  <a:srgbClr val="00B0F0"/>
                </a:solidFill>
              </a:rPr>
              <a:t>données distantes </a:t>
            </a:r>
            <a:r>
              <a:rPr lang="fr-FR" dirty="0">
                <a:solidFill>
                  <a:srgbClr val="00B0F0"/>
                </a:solidFill>
              </a:rPr>
              <a:t>via les services </a:t>
            </a:r>
            <a:r>
              <a:rPr lang="fr-FR" dirty="0" smtClean="0">
                <a:solidFill>
                  <a:srgbClr val="00B0F0"/>
                </a:solidFill>
              </a:rPr>
              <a:t>web;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rgbClr val="00B0F0"/>
                </a:solidFill>
              </a:rPr>
              <a:t>Elle </a:t>
            </a:r>
            <a:r>
              <a:rPr lang="fr-FR" dirty="0">
                <a:solidFill>
                  <a:srgbClr val="00B0F0"/>
                </a:solidFill>
              </a:rPr>
              <a:t>doit être fiable, rapide et </a:t>
            </a:r>
            <a:r>
              <a:rPr lang="fr-FR" dirty="0" smtClean="0">
                <a:solidFill>
                  <a:srgbClr val="00B0F0"/>
                </a:solidFill>
              </a:rPr>
              <a:t>sécurisée;</a:t>
            </a:r>
            <a:endParaRPr lang="fr-F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352339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10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277988" y="969226"/>
            <a:ext cx="62564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4- Planification du projet</a:t>
            </a:r>
            <a:endParaRPr lang="fr-FR" sz="30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561573" y="1967348"/>
            <a:ext cx="62564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Total des ressources</a:t>
            </a: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88407166"/>
              </p:ext>
            </p:extLst>
          </p:nvPr>
        </p:nvGraphicFramePr>
        <p:xfrm>
          <a:off x="2561573" y="2924944"/>
          <a:ext cx="6998410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9205">
                  <a:extLst>
                    <a:ext uri="{9D8B030D-6E8A-4147-A177-3AD203B41FA5}">
                      <a16:colId xmlns="" xmlns:a16="http://schemas.microsoft.com/office/drawing/2014/main" val="523033298"/>
                    </a:ext>
                  </a:extLst>
                </a:gridCol>
                <a:gridCol w="3499205">
                  <a:extLst>
                    <a:ext uri="{9D8B030D-6E8A-4147-A177-3AD203B41FA5}">
                      <a16:colId xmlns="" xmlns:a16="http://schemas.microsoft.com/office/drawing/2014/main" val="215359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Constantia" panose="02030602050306030303" pitchFamily="18" charset="0"/>
                        </a:rPr>
                        <a:t>Ressources humaines</a:t>
                      </a:r>
                      <a:endParaRPr lang="fr-FR" sz="2400" dirty="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  <a:latin typeface="Constantia" panose="02030602050306030303" pitchFamily="18" charset="0"/>
                        </a:rPr>
                        <a:t>200</a:t>
                      </a:r>
                      <a:r>
                        <a:rPr lang="fr-FR" sz="2400" dirty="0">
                          <a:effectLst/>
                          <a:latin typeface="Constantia" panose="02030602050306030303" pitchFamily="18" charset="0"/>
                        </a:rPr>
                        <a:t> 000 FCA</a:t>
                      </a:r>
                      <a:endParaRPr lang="fr-FR" sz="2400" dirty="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61811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Constantia" panose="02030602050306030303" pitchFamily="18" charset="0"/>
                        </a:rPr>
                        <a:t>Ressources matérielles</a:t>
                      </a:r>
                      <a:endParaRPr lang="fr-FR" sz="240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  <a:latin typeface="Constantia" panose="02030602050306030303" pitchFamily="18" charset="0"/>
                        </a:rPr>
                        <a:t>230</a:t>
                      </a:r>
                      <a:r>
                        <a:rPr lang="fr-FR" sz="2400" dirty="0">
                          <a:effectLst/>
                          <a:latin typeface="Constantia" panose="02030602050306030303" pitchFamily="18" charset="0"/>
                        </a:rPr>
                        <a:t> 000 FCA</a:t>
                      </a:r>
                      <a:endParaRPr lang="fr-FR" sz="2400" dirty="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38770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Constantia" panose="02030602050306030303" pitchFamily="18" charset="0"/>
                        </a:rPr>
                        <a:t>Ressources logicielles</a:t>
                      </a:r>
                      <a:endParaRPr lang="fr-FR" sz="240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Constantia" panose="02030602050306030303" pitchFamily="18" charset="0"/>
                        </a:rPr>
                        <a:t>15 000 FCA</a:t>
                      </a:r>
                      <a:endParaRPr lang="fr-FR" sz="240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92346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>
                          <a:effectLst/>
                          <a:latin typeface="Constantia" panose="02030602050306030303" pitchFamily="18" charset="0"/>
                        </a:rPr>
                        <a:t>Total</a:t>
                      </a:r>
                      <a:endParaRPr lang="fr-FR" sz="240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400" dirty="0" smtClean="0">
                          <a:effectLst/>
                          <a:latin typeface="Constantia" panose="02030602050306030303" pitchFamily="18" charset="0"/>
                        </a:rPr>
                        <a:t>445</a:t>
                      </a:r>
                      <a:r>
                        <a:rPr lang="fr-FR" sz="2400" dirty="0">
                          <a:effectLst/>
                          <a:latin typeface="Constantia" panose="02030602050306030303" pitchFamily="18" charset="0"/>
                        </a:rPr>
                        <a:t> 000 FCA</a:t>
                      </a:r>
                      <a:endParaRPr lang="fr-FR" sz="2400" dirty="0">
                        <a:effectLst/>
                        <a:latin typeface="Constantia" panose="020306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05093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2312192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11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277988" y="172278"/>
            <a:ext cx="8424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Déroulement du Stage et Présentation du Projet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557908" y="711968"/>
            <a:ext cx="900574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258144" y="873139"/>
            <a:ext cx="62564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4- Planification du Projet</a:t>
            </a:r>
            <a:endParaRPr lang="fr-FR" sz="3000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277988" y="1850622"/>
            <a:ext cx="62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6CC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Planification temporelle</a:t>
            </a:r>
            <a:endParaRPr lang="fr-FR" dirty="0">
              <a:solidFill>
                <a:srgbClr val="06CCF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pic>
        <p:nvPicPr>
          <p:cNvPr id="10" name="Image 9" descr="planification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2284412" y="2362200"/>
            <a:ext cx="9067800" cy="4114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020709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5829300" y="172278"/>
            <a:ext cx="469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Analyse &amp; Conception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3870147" y="734510"/>
            <a:ext cx="6234430" cy="450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909836" y="1052736"/>
            <a:ext cx="625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1- Modèle du cycle de vie</a:t>
            </a:r>
            <a:endParaRPr lang="fr-FR" sz="2800" b="1" dirty="0">
              <a:solidFill>
                <a:srgbClr val="0082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34" name="Espace réservé du numéro de diapositive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12</a:t>
            </a:fld>
            <a:endParaRPr lang="fr-FR" dirty="0"/>
          </a:p>
        </p:txBody>
      </p:sp>
      <p:sp>
        <p:nvSpPr>
          <p:cNvPr id="15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65"/>
          <p:cNvSpPr/>
          <p:nvPr/>
        </p:nvSpPr>
        <p:spPr>
          <a:xfrm>
            <a:off x="11558048" y="54140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65"/>
          <p:cNvSpPr/>
          <p:nvPr/>
        </p:nvSpPr>
        <p:spPr>
          <a:xfrm>
            <a:off x="11215952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65"/>
          <p:cNvSpPr/>
          <p:nvPr/>
        </p:nvSpPr>
        <p:spPr>
          <a:xfrm>
            <a:off x="11367518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65"/>
          <p:cNvSpPr/>
          <p:nvPr/>
        </p:nvSpPr>
        <p:spPr>
          <a:xfrm>
            <a:off x="11087032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65"/>
          <p:cNvSpPr/>
          <p:nvPr/>
        </p:nvSpPr>
        <p:spPr>
          <a:xfrm>
            <a:off x="10918948" y="44624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Image 21"/>
          <p:cNvPicPr/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38" y="1849097"/>
            <a:ext cx="6912768" cy="43841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829300" y="172278"/>
            <a:ext cx="469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Analyse &amp; Conception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870147" y="734510"/>
            <a:ext cx="6234430" cy="450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09836" y="1052736"/>
            <a:ext cx="625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2- Modélisation Conceptuelle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98600" y="1419013"/>
            <a:ext cx="4824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onstantia" panose="02030602050306030303" pitchFamily="18" charset="0"/>
              </a:rPr>
              <a:t>Diagramme </a:t>
            </a:r>
            <a:r>
              <a:rPr lang="fr-FR" b="1" dirty="0">
                <a:latin typeface="Constantia" panose="02030602050306030303" pitchFamily="18" charset="0"/>
              </a:rPr>
              <a:t>de cas </a:t>
            </a:r>
            <a:r>
              <a:rPr lang="fr-FR" b="1" dirty="0" smtClean="0">
                <a:latin typeface="Constantia" panose="02030602050306030303" pitchFamily="18" charset="0"/>
              </a:rPr>
              <a:t>d’utilisation: </a:t>
            </a:r>
            <a:r>
              <a:rPr lang="fr-FR" b="1" dirty="0" smtClean="0">
                <a:solidFill>
                  <a:srgbClr val="168B34"/>
                </a:solidFill>
                <a:latin typeface="Constantia" panose="02030602050306030303" pitchFamily="18" charset="0"/>
              </a:rPr>
              <a:t>Générale</a:t>
            </a:r>
            <a:endParaRPr lang="fr-FR" b="1" dirty="0">
              <a:solidFill>
                <a:srgbClr val="06CCF4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13</a:t>
            </a:fld>
            <a:endParaRPr lang="fr-FR" dirty="0"/>
          </a:p>
        </p:txBody>
      </p:sp>
      <p:sp>
        <p:nvSpPr>
          <p:cNvPr id="11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65"/>
          <p:cNvSpPr/>
          <p:nvPr/>
        </p:nvSpPr>
        <p:spPr>
          <a:xfrm>
            <a:off x="11558048" y="54140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65"/>
          <p:cNvSpPr/>
          <p:nvPr/>
        </p:nvSpPr>
        <p:spPr>
          <a:xfrm>
            <a:off x="1121595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65"/>
          <p:cNvSpPr/>
          <p:nvPr/>
        </p:nvSpPr>
        <p:spPr>
          <a:xfrm>
            <a:off x="11367518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65"/>
          <p:cNvSpPr/>
          <p:nvPr/>
        </p:nvSpPr>
        <p:spPr>
          <a:xfrm>
            <a:off x="1108703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65"/>
          <p:cNvSpPr/>
          <p:nvPr/>
        </p:nvSpPr>
        <p:spPr>
          <a:xfrm>
            <a:off x="10918948" y="44624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Image 19"/>
          <p:cNvPicPr/>
          <p:nvPr/>
        </p:nvPicPr>
        <p:blipFill>
          <a:blip r:embed="rId3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6sdtdh="http://schemas.microsoft.com/office/word/2020/wordml/sdtdatahash" xmlns:w16="http://schemas.microsoft.com/office/word/2018/wordml" xmlns:w16cid="http://schemas.microsoft.com/office/word/2016/wordml/cid" xmlns:w16cex="http://schemas.microsoft.com/office/word/2018/wordml/c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1751012" y="2438400"/>
            <a:ext cx="4114800" cy="3962400"/>
          </a:xfrm>
          <a:prstGeom prst="rect">
            <a:avLst/>
          </a:prstGeom>
        </p:spPr>
      </p:pic>
      <p:pic>
        <p:nvPicPr>
          <p:cNvPr id="21" name="Image 20"/>
          <p:cNvPicPr/>
          <p:nvPr/>
        </p:nvPicPr>
        <p:blipFill>
          <a:blip r:embed="rId4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6sdtdh="http://schemas.microsoft.com/office/word/2020/wordml/sdtdatahash" xmlns:w16="http://schemas.microsoft.com/office/word/2018/wordml" xmlns:w16cid="http://schemas.microsoft.com/office/word/2016/wordml/cid" xmlns:w16cex="http://schemas.microsoft.com/office/word/2018/wordml/c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6399212" y="2133600"/>
            <a:ext cx="5562599" cy="4398397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6323012" y="1066800"/>
            <a:ext cx="535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onstantia" panose="02030602050306030303" pitchFamily="18" charset="0"/>
              </a:rPr>
              <a:t>Diagramme </a:t>
            </a:r>
            <a:r>
              <a:rPr lang="fr-FR" b="1" dirty="0">
                <a:latin typeface="Constantia" panose="02030602050306030303" pitchFamily="18" charset="0"/>
              </a:rPr>
              <a:t>de cas </a:t>
            </a:r>
            <a:r>
              <a:rPr lang="fr-FR" b="1" dirty="0" smtClean="0">
                <a:latin typeface="Constantia" panose="02030602050306030303" pitchFamily="18" charset="0"/>
              </a:rPr>
              <a:t>d’utilisation: 		</a:t>
            </a:r>
            <a:r>
              <a:rPr lang="fr-FR" b="1" dirty="0" smtClean="0">
                <a:solidFill>
                  <a:srgbClr val="168B34"/>
                </a:solidFill>
                <a:latin typeface="Constantia" panose="02030602050306030303" pitchFamily="18" charset="0"/>
              </a:rPr>
              <a:t>Authentification</a:t>
            </a:r>
            <a:endParaRPr lang="fr-FR" b="1" dirty="0">
              <a:solidFill>
                <a:srgbClr val="06CCF4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57572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829300" y="172278"/>
            <a:ext cx="469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Analyse &amp; Conception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870147" y="734510"/>
            <a:ext cx="6234430" cy="450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09836" y="1052736"/>
            <a:ext cx="625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2- Modélisation Conceptuelle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98600" y="1419013"/>
            <a:ext cx="4824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onstantia" panose="02030602050306030303" pitchFamily="18" charset="0"/>
              </a:rPr>
              <a:t>Diagramme </a:t>
            </a:r>
            <a:r>
              <a:rPr lang="fr-FR" b="1" dirty="0">
                <a:latin typeface="Constantia" panose="02030602050306030303" pitchFamily="18" charset="0"/>
              </a:rPr>
              <a:t>de </a:t>
            </a:r>
            <a:r>
              <a:rPr lang="fr-FR" b="1" dirty="0" smtClean="0">
                <a:latin typeface="Constantia" panose="02030602050306030303" pitchFamily="18" charset="0"/>
              </a:rPr>
              <a:t>cas De séquence: </a:t>
            </a:r>
            <a:r>
              <a:rPr lang="fr-FR" b="1" dirty="0" smtClean="0">
                <a:solidFill>
                  <a:srgbClr val="168B34"/>
                </a:solidFill>
                <a:latin typeface="Constantia" panose="02030602050306030303" pitchFamily="18" charset="0"/>
              </a:rPr>
              <a:t>Affecter  véhicule</a:t>
            </a:r>
            <a:endParaRPr lang="fr-FR" b="1" dirty="0">
              <a:solidFill>
                <a:srgbClr val="06CCF4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14</a:t>
            </a:fld>
            <a:endParaRPr lang="fr-FR" dirty="0"/>
          </a:p>
        </p:txBody>
      </p:sp>
      <p:sp>
        <p:nvSpPr>
          <p:cNvPr id="11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65"/>
          <p:cNvSpPr/>
          <p:nvPr/>
        </p:nvSpPr>
        <p:spPr>
          <a:xfrm>
            <a:off x="11558048" y="54140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65"/>
          <p:cNvSpPr/>
          <p:nvPr/>
        </p:nvSpPr>
        <p:spPr>
          <a:xfrm>
            <a:off x="1121595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65"/>
          <p:cNvSpPr/>
          <p:nvPr/>
        </p:nvSpPr>
        <p:spPr>
          <a:xfrm>
            <a:off x="11367518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65"/>
          <p:cNvSpPr/>
          <p:nvPr/>
        </p:nvSpPr>
        <p:spPr>
          <a:xfrm>
            <a:off x="1108703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65"/>
          <p:cNvSpPr/>
          <p:nvPr/>
        </p:nvSpPr>
        <p:spPr>
          <a:xfrm>
            <a:off x="10918948" y="44624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ZoneTexte 21"/>
          <p:cNvSpPr txBox="1"/>
          <p:nvPr/>
        </p:nvSpPr>
        <p:spPr>
          <a:xfrm>
            <a:off x="6475412" y="1371600"/>
            <a:ext cx="535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onstantia" panose="02030602050306030303" pitchFamily="18" charset="0"/>
              </a:rPr>
              <a:t>Diagramme </a:t>
            </a:r>
            <a:r>
              <a:rPr lang="fr-FR" b="1" dirty="0">
                <a:latin typeface="Constantia" panose="02030602050306030303" pitchFamily="18" charset="0"/>
              </a:rPr>
              <a:t>de </a:t>
            </a:r>
            <a:r>
              <a:rPr lang="fr-FR" b="1" dirty="0" smtClean="0">
                <a:latin typeface="Constantia" panose="02030602050306030303" pitchFamily="18" charset="0"/>
              </a:rPr>
              <a:t>séquence: 		</a:t>
            </a:r>
            <a:r>
              <a:rPr lang="fr-FR" b="1" dirty="0" smtClean="0">
                <a:solidFill>
                  <a:srgbClr val="168B34"/>
                </a:solidFill>
                <a:latin typeface="Constantia" panose="02030602050306030303" pitchFamily="18" charset="0"/>
              </a:rPr>
              <a:t>Réparation</a:t>
            </a:r>
            <a:endParaRPr lang="fr-FR" b="1" dirty="0">
              <a:solidFill>
                <a:srgbClr val="06CCF4"/>
              </a:solidFill>
              <a:latin typeface="Constantia" panose="02030602050306030303" pitchFamily="18" charset="0"/>
            </a:endParaRPr>
          </a:p>
        </p:txBody>
      </p:sp>
      <p:pic>
        <p:nvPicPr>
          <p:cNvPr id="19" name="Image 18" descr="3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912812" y="2209800"/>
            <a:ext cx="5105400" cy="4419600"/>
          </a:xfrm>
          <a:prstGeom prst="rect">
            <a:avLst/>
          </a:prstGeom>
        </p:spPr>
      </p:pic>
      <p:pic>
        <p:nvPicPr>
          <p:cNvPr id="23" name="Image 22" descr="4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170612" y="2286000"/>
            <a:ext cx="5731510" cy="433768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57572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829300" y="172278"/>
            <a:ext cx="469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Analyse &amp; Conception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870147" y="734510"/>
            <a:ext cx="6234430" cy="4508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09836" y="1052736"/>
            <a:ext cx="625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2- Modélisation Conceptuelle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498600" y="1419013"/>
            <a:ext cx="825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smtClean="0">
                <a:latin typeface="Constantia" panose="02030602050306030303" pitchFamily="18" charset="0"/>
              </a:rPr>
              <a:t>Diagramme </a:t>
            </a:r>
            <a:r>
              <a:rPr lang="fr-FR" b="1" dirty="0">
                <a:latin typeface="Constantia" panose="02030602050306030303" pitchFamily="18" charset="0"/>
              </a:rPr>
              <a:t>de </a:t>
            </a:r>
            <a:r>
              <a:rPr lang="fr-FR" b="1" dirty="0" smtClean="0">
                <a:latin typeface="Constantia" panose="02030602050306030303" pitchFamily="18" charset="0"/>
              </a:rPr>
              <a:t>cas </a:t>
            </a:r>
            <a:r>
              <a:rPr lang="fr-FR" b="1" dirty="0" smtClean="0">
                <a:latin typeface="Constantia" panose="02030602050306030303" pitchFamily="18" charset="0"/>
              </a:rPr>
              <a:t>D’</a:t>
            </a:r>
            <a:r>
              <a:rPr lang="fr-FR" b="1" dirty="0" err="1" smtClean="0">
                <a:latin typeface="Constantia" panose="02030602050306030303" pitchFamily="18" charset="0"/>
              </a:rPr>
              <a:t>activite</a:t>
            </a:r>
            <a:r>
              <a:rPr lang="fr-FR" b="1" dirty="0" smtClean="0">
                <a:latin typeface="Constantia" panose="02030602050306030303" pitchFamily="18" charset="0"/>
              </a:rPr>
              <a:t>:   </a:t>
            </a:r>
            <a:r>
              <a:rPr lang="fr-FR" b="1" dirty="0" smtClean="0">
                <a:solidFill>
                  <a:srgbClr val="168B34"/>
                </a:solidFill>
                <a:latin typeface="Constantia" panose="02030602050306030303" pitchFamily="18" charset="0"/>
              </a:rPr>
              <a:t>Gestion des entretiens</a:t>
            </a:r>
            <a:endParaRPr lang="fr-FR" b="1" dirty="0">
              <a:solidFill>
                <a:srgbClr val="06CCF4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15</a:t>
            </a:fld>
            <a:endParaRPr lang="fr-FR" dirty="0"/>
          </a:p>
        </p:txBody>
      </p:sp>
      <p:sp>
        <p:nvSpPr>
          <p:cNvPr id="11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65"/>
          <p:cNvSpPr/>
          <p:nvPr/>
        </p:nvSpPr>
        <p:spPr>
          <a:xfrm>
            <a:off x="11558048" y="54140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65"/>
          <p:cNvSpPr/>
          <p:nvPr/>
        </p:nvSpPr>
        <p:spPr>
          <a:xfrm>
            <a:off x="1121595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65"/>
          <p:cNvSpPr/>
          <p:nvPr/>
        </p:nvSpPr>
        <p:spPr>
          <a:xfrm>
            <a:off x="11367518" y="44625"/>
            <a:ext cx="119660" cy="118137"/>
          </a:xfrm>
          <a:prstGeom prst="ellipse">
            <a:avLst/>
          </a:prstGeom>
          <a:solidFill>
            <a:srgbClr val="168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65"/>
          <p:cNvSpPr/>
          <p:nvPr/>
        </p:nvSpPr>
        <p:spPr>
          <a:xfrm>
            <a:off x="11087032" y="44625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65"/>
          <p:cNvSpPr/>
          <p:nvPr/>
        </p:nvSpPr>
        <p:spPr>
          <a:xfrm>
            <a:off x="10918948" y="44624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Image 19"/>
          <p:cNvPicPr/>
          <p:nvPr/>
        </p:nvPicPr>
        <p:blipFill>
          <a:blip r:embed="rId3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>
          <a:xfrm>
            <a:off x="2970212" y="1828801"/>
            <a:ext cx="6248400" cy="4800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575721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4582244" y="172278"/>
            <a:ext cx="593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Implémentation de la Solution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2993123" y="733876"/>
            <a:ext cx="7205746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909836" y="1080217"/>
            <a:ext cx="625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 smtClean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Outils technologiques: </a:t>
            </a:r>
            <a:endParaRPr lang="fr-FR" sz="2800" b="1" u="sng" dirty="0">
              <a:solidFill>
                <a:srgbClr val="0082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16</a:t>
            </a:fld>
            <a:endParaRPr lang="fr-FR" dirty="0"/>
          </a:p>
        </p:txBody>
      </p:sp>
      <p:pic>
        <p:nvPicPr>
          <p:cNvPr id="18" name="Image 17"/>
          <p:cNvPicPr/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012" y="1905000"/>
            <a:ext cx="1647403" cy="72023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22478" y="4673202"/>
            <a:ext cx="3166636" cy="6718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u="sng" dirty="0" smtClean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  <a:cs typeface="Times New Roman" pitchFamily="18" charset="0"/>
              </a:rPr>
              <a:t>Langages utilisés:</a:t>
            </a:r>
            <a:endParaRPr lang="fr-FR" sz="2800" b="1" u="sng" dirty="0">
              <a:solidFill>
                <a:srgbClr val="0082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  <a:cs typeface="Times New Roman" pitchFamily="18" charset="0"/>
            </a:endParaRPr>
          </a:p>
        </p:txBody>
      </p:sp>
      <p:sp>
        <p:nvSpPr>
          <p:cNvPr id="25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Image 32"/>
          <p:cNvPicPr/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12" y="1752600"/>
            <a:ext cx="942975" cy="942975"/>
          </a:xfrm>
          <a:prstGeom prst="rect">
            <a:avLst/>
          </a:prstGeom>
        </p:spPr>
      </p:pic>
      <p:sp>
        <p:nvSpPr>
          <p:cNvPr id="37" name="ZoneTexte 36"/>
          <p:cNvSpPr txBox="1"/>
          <p:nvPr/>
        </p:nvSpPr>
        <p:spPr>
          <a:xfrm>
            <a:off x="1022898" y="2926842"/>
            <a:ext cx="2576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 smtClean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Framework: </a:t>
            </a:r>
            <a:endParaRPr lang="fr-FR" sz="2800" b="1" u="sng" dirty="0">
              <a:solidFill>
                <a:srgbClr val="0082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pic>
        <p:nvPicPr>
          <p:cNvPr id="39" name="Image 38"/>
          <p:cNvPicPr/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98" y="5419749"/>
            <a:ext cx="828675" cy="1165860"/>
          </a:xfrm>
          <a:prstGeom prst="rect">
            <a:avLst/>
          </a:prstGeom>
        </p:spPr>
      </p:pic>
      <p:pic>
        <p:nvPicPr>
          <p:cNvPr id="41" name="Image 40"/>
          <p:cNvPicPr/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5486400"/>
            <a:ext cx="866775" cy="866775"/>
          </a:xfrm>
          <a:prstGeom prst="rect">
            <a:avLst/>
          </a:prstGeom>
        </p:spPr>
      </p:pic>
      <p:pic>
        <p:nvPicPr>
          <p:cNvPr id="20" name="Image 19" descr="lara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7612" y="3429000"/>
            <a:ext cx="1828800" cy="1371600"/>
          </a:xfrm>
          <a:prstGeom prst="rect">
            <a:avLst/>
          </a:prstGeom>
        </p:spPr>
      </p:pic>
      <p:pic>
        <p:nvPicPr>
          <p:cNvPr id="22" name="Image 21" descr="44.JP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84612" y="1828800"/>
            <a:ext cx="1143000" cy="990600"/>
          </a:xfrm>
          <a:prstGeom prst="rect">
            <a:avLst/>
          </a:prstGeom>
        </p:spPr>
      </p:pic>
      <p:pic>
        <p:nvPicPr>
          <p:cNvPr id="23" name="Image 22" descr="css.JPG"/>
          <p:cNvPicPr/>
          <p:nvPr/>
        </p:nvPicPr>
        <p:blipFill>
          <a:blip r:embed="rId9"/>
          <a:stretch>
            <a:fillRect/>
          </a:stretch>
        </p:blipFill>
        <p:spPr>
          <a:xfrm>
            <a:off x="2132012" y="5486400"/>
            <a:ext cx="1219200" cy="1066800"/>
          </a:xfrm>
          <a:prstGeom prst="rect">
            <a:avLst/>
          </a:prstGeom>
        </p:spPr>
      </p:pic>
      <p:pic>
        <p:nvPicPr>
          <p:cNvPr id="24" name="Image 23" descr="javascript.JPG"/>
          <p:cNvPicPr/>
          <p:nvPr/>
        </p:nvPicPr>
        <p:blipFill>
          <a:blip r:embed="rId10"/>
          <a:stretch>
            <a:fillRect/>
          </a:stretch>
        </p:blipFill>
        <p:spPr>
          <a:xfrm>
            <a:off x="4374100" y="5540644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650807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829300" y="172278"/>
            <a:ext cx="4692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Implémentation &amp; Test</a:t>
            </a:r>
            <a:endParaRPr lang="fr-FR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17</a:t>
            </a:fld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1413892" y="1340768"/>
            <a:ext cx="5832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82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Architecture de l’Application: </a:t>
            </a:r>
            <a:endParaRPr lang="fr-FR" sz="2800" b="1" dirty="0">
              <a:solidFill>
                <a:srgbClr val="0082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pic>
        <p:nvPicPr>
          <p:cNvPr id="18" name="Image 17"/>
          <p:cNvPicPr/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876" y="2276872"/>
            <a:ext cx="7488831" cy="361057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8518526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18</a:t>
            </a:fld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5829300" y="361627"/>
            <a:ext cx="5750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	Conclusion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26" name="Rectangle à coins arrondis 25"/>
          <p:cNvSpPr/>
          <p:nvPr/>
        </p:nvSpPr>
        <p:spPr>
          <a:xfrm flipV="1">
            <a:off x="4329219" y="925102"/>
            <a:ext cx="4717521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0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6149618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19</a:t>
            </a:fld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8110636" y="338450"/>
            <a:ext cx="3649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ligraph421 BT" panose="03060702050402020204" pitchFamily="66" charset="0"/>
              </a:rPr>
              <a:t>Bibliographie</a:t>
            </a:r>
            <a:endParaRPr lang="fr-FR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ligraph421 BT" panose="03060702050402020204" pitchFamily="66" charset="0"/>
            </a:endParaRPr>
          </a:p>
        </p:txBody>
      </p:sp>
      <p:sp>
        <p:nvSpPr>
          <p:cNvPr id="26" name="Rectangle à coins arrondis 25"/>
          <p:cNvSpPr/>
          <p:nvPr/>
        </p:nvSpPr>
        <p:spPr>
          <a:xfrm>
            <a:off x="6815232" y="900365"/>
            <a:ext cx="3770995" cy="4571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837828" y="381000"/>
            <a:ext cx="10420176" cy="6248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fr-FR" dirty="0" smtClean="0"/>
              <a:t>Ouvrages utilisés</a:t>
            </a:r>
          </a:p>
          <a:p>
            <a:r>
              <a:rPr lang="fr-FR" dirty="0" smtClean="0"/>
              <a:t>➢ 1(*) Joëlle MUKENYI K., Problématique de la gestion du parc automobile dans une entreprise commerciale. Cas de l'EDINOKI (1996-1998), TFC inédit, ULPGL-Goma, FGA, 1996-1997. </a:t>
            </a:r>
            <a:endParaRPr lang="en-US" dirty="0" smtClean="0"/>
          </a:p>
          <a:p>
            <a:r>
              <a:rPr lang="fr-FR" dirty="0" smtClean="0"/>
              <a:t>➢ 2(*) Le Larousse, éd. 1974.</a:t>
            </a:r>
            <a:endParaRPr lang="en-US" dirty="0" smtClean="0"/>
          </a:p>
          <a:p>
            <a:r>
              <a:rPr lang="fr-FR" dirty="0" smtClean="0"/>
              <a:t>➢ 3(*) M. CROLAIS, Gestion intégrée des véhicules et approvisionnement, France, Hommes, 1973, p. 11 </a:t>
            </a:r>
            <a:endParaRPr lang="en-US" dirty="0" smtClean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FR" sz="1000" dirty="0" smtClean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fr-FR" dirty="0" smtClean="0"/>
              <a:t>Webographie</a:t>
            </a:r>
            <a:endParaRPr lang="fr-FR" dirty="0"/>
          </a:p>
          <a:p>
            <a:r>
              <a:rPr lang="fr-FR" dirty="0" smtClean="0"/>
              <a:t>➢ </a:t>
            </a:r>
            <a:r>
              <a:rPr lang="fr-FR" u="sng" dirty="0" smtClean="0">
                <a:hlinkClick r:id="rId3"/>
              </a:rPr>
              <a:t>www.logistiqueconseil.org</a:t>
            </a:r>
            <a:r>
              <a:rPr lang="fr-FR" dirty="0" smtClean="0"/>
              <a:t> différents niveaux des véhicules (02/06/2021 à 14h)</a:t>
            </a:r>
            <a:endParaRPr lang="en-US" dirty="0" smtClean="0"/>
          </a:p>
          <a:p>
            <a:r>
              <a:rPr lang="fr-FR" dirty="0" smtClean="0"/>
              <a:t>➢ </a:t>
            </a:r>
            <a:r>
              <a:rPr lang="fr-FR" u="sng" dirty="0" smtClean="0">
                <a:hlinkClick r:id="rId4"/>
              </a:rPr>
              <a:t>www.memo</a:t>
            </a:r>
            <a:r>
              <a:rPr lang="fr-FR" dirty="0" smtClean="0"/>
              <a:t> problematique.fr (02/06/2021 à 9h)</a:t>
            </a:r>
            <a:endParaRPr lang="en-US" dirty="0" smtClean="0"/>
          </a:p>
          <a:p>
            <a:r>
              <a:rPr lang="fr-FR" dirty="0" smtClean="0"/>
              <a:t>➢ </a:t>
            </a:r>
            <a:r>
              <a:rPr lang="fr-FR" u="sng" dirty="0" smtClean="0">
                <a:hlinkClick r:id="rId5"/>
              </a:rPr>
              <a:t>www.COMPTA</a:t>
            </a:r>
            <a:r>
              <a:rPr lang="fr-FR" dirty="0" smtClean="0"/>
              <a:t>.com. (08/06/2021 à 11h30)</a:t>
            </a:r>
            <a:endParaRPr lang="en-US" dirty="0" smtClean="0"/>
          </a:p>
          <a:p>
            <a:r>
              <a:rPr lang="fr-FR" dirty="0" smtClean="0"/>
              <a:t>➢ </a:t>
            </a:r>
            <a:r>
              <a:rPr lang="fr-FR" u="sng" dirty="0" smtClean="0"/>
              <a:t>www.maurice</a:t>
            </a:r>
            <a:r>
              <a:rPr lang="fr-FR" dirty="0" smtClean="0"/>
              <a:t>-chavelli.developpes.com. (13/06/2021 à 11h30)</a:t>
            </a:r>
            <a:endParaRPr lang="en-US" dirty="0" smtClean="0"/>
          </a:p>
          <a:p>
            <a:r>
              <a:rPr lang="fr-FR" dirty="0" smtClean="0"/>
              <a:t>➢ </a:t>
            </a:r>
            <a:r>
              <a:rPr lang="fr-FR" u="sng" dirty="0" smtClean="0"/>
              <a:t>www.codeload</a:t>
            </a:r>
            <a:r>
              <a:rPr lang="fr-FR" dirty="0" smtClean="0"/>
              <a:t>.githubusercontent.com. (15/06/2021 à 11h30)</a:t>
            </a:r>
            <a:endParaRPr lang="en-US" dirty="0" smtClean="0"/>
          </a:p>
          <a:p>
            <a:r>
              <a:rPr lang="fr-FR" dirty="0" smtClean="0"/>
              <a:t>➢</a:t>
            </a:r>
            <a:r>
              <a:rPr lang="fr-FR" u="sng" dirty="0" smtClean="0"/>
              <a:t>www.carglass</a:t>
            </a:r>
            <a:r>
              <a:rPr lang="fr-FR" dirty="0" smtClean="0"/>
              <a:t>.fr. (20/06/2021 à 11h30)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65"/>
          <p:cNvSpPr/>
          <p:nvPr/>
        </p:nvSpPr>
        <p:spPr>
          <a:xfrm>
            <a:off x="11855052" y="54141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5"/>
          <p:cNvSpPr/>
          <p:nvPr/>
        </p:nvSpPr>
        <p:spPr>
          <a:xfrm>
            <a:off x="11726132" y="54141"/>
            <a:ext cx="119660" cy="118137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935188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20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125860" y="908720"/>
            <a:ext cx="9865096" cy="4608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4500" b="1" i="1" dirty="0" smtClean="0">
                <a:solidFill>
                  <a:schemeClr val="accent1"/>
                </a:solidFill>
                <a:latin typeface="Constantia" panose="02030602050306030303" pitchFamily="18" charset="0"/>
              </a:rPr>
              <a:t>Démonstration</a:t>
            </a:r>
            <a:endParaRPr lang="fr-FR" sz="4500" b="1" i="1" dirty="0">
              <a:solidFill>
                <a:schemeClr val="accent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080099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21</a:t>
            </a:fld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125860" y="908720"/>
            <a:ext cx="9865096" cy="4608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4500" b="1" i="1" dirty="0" smtClean="0">
                <a:solidFill>
                  <a:schemeClr val="accent1"/>
                </a:solidFill>
                <a:latin typeface="Constantia" panose="02030602050306030303" pitchFamily="18" charset="0"/>
              </a:rPr>
              <a:t>Merci pour votre aimable attention</a:t>
            </a:r>
            <a:endParaRPr lang="fr-FR" sz="4500" b="1" i="1" dirty="0">
              <a:solidFill>
                <a:schemeClr val="accent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994240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22</a:t>
            </a:fld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629916" y="908720"/>
            <a:ext cx="8933733" cy="4608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4000" b="1" i="1" dirty="0" smtClean="0">
                <a:solidFill>
                  <a:schemeClr val="accent1"/>
                </a:solidFill>
                <a:latin typeface="Constantia" panose="02030602050306030303" pitchFamily="18" charset="0"/>
              </a:rPr>
              <a:t>Questions et Suggestions</a:t>
            </a:r>
            <a:endParaRPr lang="fr-FR" sz="4000" b="1" i="1" dirty="0">
              <a:solidFill>
                <a:schemeClr val="accent1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129282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ie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_9533257_TF02787990_TF02787990.potx" id="{ABCB071B-19A3-44BE-B302-F4BBE7E3E2D5}" vid="{F4600F28-01B2-4FC5-9857-5FFF9F08051B}"/>
    </a:ext>
  </a:extLst>
</a:theme>
</file>

<file path=ppt/theme/theme2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4873beb7-5857-4685-be1f-d57550cc96c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Circuit trois lignes (grand écran)</Template>
  <TotalTime>3243</TotalTime>
  <Words>678</Words>
  <Application>Microsoft Office PowerPoint</Application>
  <PresentationFormat>Personnalisé</PresentationFormat>
  <Paragraphs>168</Paragraphs>
  <Slides>22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Technologie 16:9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Disposition de titre</dc:title>
  <dc:creator>fred tchiaga</dc:creator>
  <cp:lastModifiedBy>Jean Alain FOMENE</cp:lastModifiedBy>
  <cp:revision>223</cp:revision>
  <dcterms:created xsi:type="dcterms:W3CDTF">2019-07-19T10:00:05Z</dcterms:created>
  <dcterms:modified xsi:type="dcterms:W3CDTF">2021-06-26T13:01:14Z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